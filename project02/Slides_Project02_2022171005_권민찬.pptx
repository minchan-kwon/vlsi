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9" r:id="rId4"/>
    <p:sldId id="278" r:id="rId5"/>
    <p:sldId id="258" r:id="rId6"/>
    <p:sldId id="279" r:id="rId7"/>
    <p:sldId id="267" r:id="rId8"/>
    <p:sldId id="282" r:id="rId9"/>
    <p:sldId id="271" r:id="rId10"/>
    <p:sldId id="272" r:id="rId11"/>
    <p:sldId id="280" r:id="rId12"/>
    <p:sldId id="283" r:id="rId13"/>
    <p:sldId id="286" r:id="rId14"/>
    <p:sldId id="273" r:id="rId15"/>
    <p:sldId id="264" r:id="rId16"/>
    <p:sldId id="274" r:id="rId17"/>
    <p:sldId id="281" r:id="rId18"/>
    <p:sldId id="284" r:id="rId19"/>
    <p:sldId id="275" r:id="rId20"/>
    <p:sldId id="276" r:id="rId21"/>
    <p:sldId id="277" r:id="rId22"/>
    <p:sldId id="28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  <a:srgbClr val="862633"/>
    <a:srgbClr val="A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86111" autoAdjust="0"/>
  </p:normalViewPr>
  <p:slideViewPr>
    <p:cSldViewPr snapToGrid="0">
      <p:cViewPr>
        <p:scale>
          <a:sx n="82" d="100"/>
          <a:sy n="82" d="100"/>
        </p:scale>
        <p:origin x="432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FC25B-607F-4771-9602-61253B0306CA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D8D58-4E5C-4F10-A6E4-182EDC7238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107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567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189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815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53E80-5E23-CF1B-39FA-8410A99C7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50CEE8-315E-53EA-4CE9-28E8663A9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741571-5510-0477-8170-C1F765734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A9E3BA-C63E-6D84-52FC-AF1661A0E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757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474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937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310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0BBCD-E7E7-DC61-753B-5B5E3EC3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3201B4-06BA-3741-FE82-AAF55739D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6DB650-C009-0F7E-9EEC-FFDFAD166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023988-336C-70A8-A0E6-6A70EFA95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38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091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929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29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48E41-EB61-8503-1DFE-7DE77603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0D9A07-7A56-7E6D-C21E-5C048CEAD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B832DA-20C7-553C-A27B-8BF0AD9DF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1921B8-E197-9F1C-3F60-F46721D76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297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289D6-C0B3-F510-EA76-B6CB5135D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4C3CE-2254-AD93-7D6A-0DDB07DB8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FB466F-9479-FC4A-55DB-745D7A477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0A0963-6D4F-9CD5-DB8E-AF29DCD4C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599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103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704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022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7879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49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83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899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3569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06E12-6E03-9660-1D11-FCC41980E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E116C7-E2B1-76FC-CB10-794DC14C1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69DE43-9597-2E83-81CA-FC26975EC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508121-AEEA-5AC7-9893-1EF593D50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D8D58-4E5C-4F10-A6E4-182EDC7238F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EC791-4A1E-D2EC-9E58-EF1F93895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25D88E-573C-339A-6EB7-D4CA2CCA8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4F3942-C2A1-C3E6-AFA3-A70414E68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D2D4E1-7BF8-D71F-11F0-A4672120F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80E5F-D089-CDE4-196B-DC81A7D5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627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D77E1-DBE5-9124-5509-0A5BEC2D5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8BBB8-9DA4-125D-1882-A25690AB6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B71F6D-6B4B-FCE3-0419-AD1C8A04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92E28E-F8B1-8D8F-685C-0423C00B4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74FB99-0B59-25B9-BA78-5EB1C0A97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41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9AE40E-A874-D7D3-CFEC-02AA0B43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69EF55-C6F9-CE76-F01D-30977925E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909FA-6A38-3208-C217-FF708B20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8CBA3-FE56-FABB-7F2B-2B432428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353398-D4FA-34CB-272B-B9DF296AC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419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6D91D-6F3F-7B0E-40B0-707F66657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354C34-1C3A-1E73-5E47-3AE458E519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4B0348-9096-89F2-9A63-48DDDFCA8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0ED6F7-6E79-DB4D-B5B8-168F8BE3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CF7FB0-50F4-7689-7DC8-39FE53281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6D6A36-5FAE-D427-AB51-E7654616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80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16D0F-07DE-C6B6-9D57-F31EBAE25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07849F-328F-653C-A1C2-00F3039A8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304486-D5EF-FFAC-CEB3-E6C6A23F8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37D082-83DD-BD8B-C77D-8FF09647E6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2F2BEC-0F97-0AF6-768D-200FE9989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84986C-78D2-45AB-0EBE-275ABE82F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3FB1FF-A9ED-8AFD-2148-5E5B0AF7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EC737A-68CE-D8DE-7AF3-F2BE353D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73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5E3B7-00B1-6752-ED3F-5E5826176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245D27-E8E3-CAD3-717A-D03272E4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314BCD-230E-86A4-C4CE-802839B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9862A2-D2E6-552A-FE03-7036997D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403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C834D2-4F79-E3CE-F394-E38BB3FA5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51E5D0-20A8-B700-8139-56F28686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A40AF4-40BF-6FB2-EEC0-60DDECEE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428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47459-883D-6774-3CF5-421D96472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069FB3-7267-7891-FAC4-97F757C1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C5BBAB-64AE-9673-2570-9FC9402F4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E22DC6-C2CE-8593-1FA9-09E19A26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7C5A4A-19E0-E98B-F7D5-13CAAFF85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F75585-8F9E-C61F-D439-960C5406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4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E99BA-65D4-063A-C646-4D0281C5E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3F1F19-CB35-D3FA-4C91-8BFDEA6F4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1E5C73-5393-14AA-AD84-A890464D3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ACA393-82B7-B2FD-17E6-47FB238B6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A7A776-7867-DE55-0321-9196746A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E12870-2C81-4AC8-0714-00B74F2D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86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52D0E1-D888-4814-F9F5-940BBA91E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4A8586-B34A-F052-3FED-CC47880E8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7EE127-B48E-1C34-774A-6FCB19A2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141B7C-F75E-6CDA-CDE3-BCE0BAD1B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656B6B-CDC1-B958-DF62-5216A455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825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210386-BE04-4EF4-6529-779E59F06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982F6F-FABD-003C-2F06-D4E9A226E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11750A-FE96-C11F-5DB8-D4498A8F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0B00B5-3D53-3805-A315-7EE600FC5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2CF84-2FA1-CCB1-AA1B-6C19C252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837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D29A48-4CB8-AC6E-7ADB-CC7F446BA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17F6EA-67F2-D18F-C933-6179E1A98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519B52-7829-3402-8C65-3FD8C91CD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877BA-C4C1-473E-8D69-E495F406E997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6BD4D1-55C7-3248-8572-2F8719F4A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483456-D694-9D98-9394-7C70E711D7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0B366-C9A2-43FF-8573-70E73D7DA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4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CAE5D-21DE-94C6-C1FE-C20775AF2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840073"/>
            <a:ext cx="10058400" cy="2387600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latin typeface="나눔고딕" panose="020D0604000000000000" pitchFamily="50" charset="-127"/>
                <a:ea typeface="나눔고딕" panose="020D0604000000000000" pitchFamily="50" charset="-127"/>
                <a:cs typeface="Cascadia Code SemiLight" panose="020B0609020000020004" pitchFamily="49" charset="0"/>
              </a:rPr>
              <a:t>AREA-EFFICIENT</a:t>
            </a:r>
            <a:br>
              <a:rPr lang="en-US" altLang="ko-KR" sz="4800" b="1" dirty="0">
                <a:latin typeface="나눔고딕" panose="020D0604000000000000" pitchFamily="50" charset="-127"/>
                <a:ea typeface="나눔고딕" panose="020D0604000000000000" pitchFamily="50" charset="-127"/>
                <a:cs typeface="Cascadia Code SemiLight" panose="020B0609020000020004" pitchFamily="49" charset="0"/>
              </a:rPr>
            </a:br>
            <a:r>
              <a:rPr lang="en-US" altLang="ko-KR" sz="4800" b="1" dirty="0">
                <a:latin typeface="나눔고딕" panose="020D0604000000000000" pitchFamily="50" charset="-127"/>
                <a:ea typeface="나눔고딕" panose="020D0604000000000000" pitchFamily="50" charset="-127"/>
                <a:cs typeface="Cascadia Code SemiLight" panose="020B0609020000020004" pitchFamily="49" charset="0"/>
              </a:rPr>
              <a:t>2D-DCT ARCHITECTURE</a:t>
            </a:r>
            <a:endParaRPr lang="ko-KR" altLang="en-US" sz="4800" b="1" dirty="0">
              <a:latin typeface="나눔고딕" panose="020D0604000000000000" pitchFamily="50" charset="-127"/>
              <a:ea typeface="나눔고딕" panose="020D0604000000000000" pitchFamily="50" charset="-127"/>
              <a:cs typeface="Cascadia Code SemiLight" panose="020B0609020000020004" pitchFamily="49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5B9DD5-D64F-EB55-5B33-4939AE6F4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81855"/>
            <a:ext cx="9144000" cy="1655762"/>
          </a:xfrm>
        </p:spPr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2022171005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권민찬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870FE49-E187-4447-A5E0-CC421A496EAD}"/>
              </a:ext>
            </a:extLst>
          </p:cNvPr>
          <p:cNvCxnSpPr>
            <a:cxnSpLocks/>
          </p:cNvCxnSpPr>
          <p:nvPr/>
        </p:nvCxnSpPr>
        <p:spPr>
          <a:xfrm>
            <a:off x="2270340" y="3498463"/>
            <a:ext cx="7651321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1FD15CD-E895-C7D0-3CAB-92C9A5AE7839}"/>
              </a:ext>
            </a:extLst>
          </p:cNvPr>
          <p:cNvSpPr txBox="1"/>
          <p:nvPr/>
        </p:nvSpPr>
        <p:spPr>
          <a:xfrm>
            <a:off x="2914045" y="6427976"/>
            <a:ext cx="6363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KECE463: VLSI DESIGN AND LABORATORY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1" name="그림 20" descr="Symbol">
            <a:extLst>
              <a:ext uri="{FF2B5EF4-FFF2-40B4-BE49-F238E27FC236}">
                <a16:creationId xmlns:a16="http://schemas.microsoft.com/office/drawing/2014/main" id="{F57980C9-C3B0-22C9-550F-A9809B42D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63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7BDE0-F7EB-FCD0-8502-E8BB2E2A3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71" y="18255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Optimization Strategies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0A5016-180C-CDA5-4B73-D16700777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5904"/>
            <a:ext cx="10515600" cy="439244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Efficient scheduling for the transposed memory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Zero substitution of high-frequency signals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Bit width reduction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 Multiplier removal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 Computation sharing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 Synthesis-aware RTL optimization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60BC48C-F952-7C46-8C9B-336BE12D029F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Symbol">
            <a:extLst>
              <a:ext uri="{FF2B5EF4-FFF2-40B4-BE49-F238E27FC236}">
                <a16:creationId xmlns:a16="http://schemas.microsoft.com/office/drawing/2014/main" id="{7E626428-E42C-46E1-D6A0-3BDC9D4D5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56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397D6-D6DB-4F00-4403-6B0E2B50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F53E1-D4E5-3754-5395-71AA4D3B1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71" y="18255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Efficient TPMEM Scheduling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5BF4570-18A0-3AED-D37F-DDA0A4F70344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B14A2FF-0FE2-B28D-783A-B3CB06CDDE89}"/>
              </a:ext>
            </a:extLst>
          </p:cNvPr>
          <p:cNvGrpSpPr/>
          <p:nvPr/>
        </p:nvGrpSpPr>
        <p:grpSpPr>
          <a:xfrm>
            <a:off x="760779" y="2618441"/>
            <a:ext cx="2160000" cy="2160000"/>
            <a:chOff x="882867" y="2579240"/>
            <a:chExt cx="2421585" cy="2011692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4FB38A5-5AF1-D0D4-777B-54C2712E357C}"/>
                </a:ext>
              </a:extLst>
            </p:cNvPr>
            <p:cNvSpPr/>
            <p:nvPr/>
          </p:nvSpPr>
          <p:spPr>
            <a:xfrm>
              <a:off x="882869" y="2579240"/>
              <a:ext cx="2421583" cy="3846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Z0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C031D50-0E7E-B110-9E46-66236414A6C1}"/>
                </a:ext>
              </a:extLst>
            </p:cNvPr>
            <p:cNvSpPr/>
            <p:nvPr/>
          </p:nvSpPr>
          <p:spPr>
            <a:xfrm>
              <a:off x="882868" y="3121578"/>
              <a:ext cx="2421583" cy="3846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Z1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A1EF785-AFAE-B264-7552-ECD19E0B3CFF}"/>
                </a:ext>
              </a:extLst>
            </p:cNvPr>
            <p:cNvSpPr/>
            <p:nvPr/>
          </p:nvSpPr>
          <p:spPr>
            <a:xfrm>
              <a:off x="882868" y="3663916"/>
              <a:ext cx="2421583" cy="3846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Z2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5EFE97A-19BA-D061-7FD1-8F4F5CFF490F}"/>
                </a:ext>
              </a:extLst>
            </p:cNvPr>
            <p:cNvSpPr/>
            <p:nvPr/>
          </p:nvSpPr>
          <p:spPr>
            <a:xfrm>
              <a:off x="882867" y="4206254"/>
              <a:ext cx="2421583" cy="3846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Z3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C8B582-08B2-EA58-3927-D750E0054825}"/>
              </a:ext>
            </a:extLst>
          </p:cNvPr>
          <p:cNvSpPr/>
          <p:nvPr/>
        </p:nvSpPr>
        <p:spPr>
          <a:xfrm rot="5400000">
            <a:off x="4374124" y="3491923"/>
            <a:ext cx="2159998" cy="4130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C3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88B6C3-88FE-05A5-CDD5-32EEBF02193A}"/>
              </a:ext>
            </a:extLst>
          </p:cNvPr>
          <p:cNvSpPr/>
          <p:nvPr/>
        </p:nvSpPr>
        <p:spPr>
          <a:xfrm rot="5400000">
            <a:off x="3791803" y="3491922"/>
            <a:ext cx="2159998" cy="4130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C2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B5B9EA-E9C6-4FAE-D1DB-0B28521D72D8}"/>
              </a:ext>
            </a:extLst>
          </p:cNvPr>
          <p:cNvSpPr/>
          <p:nvPr/>
        </p:nvSpPr>
        <p:spPr>
          <a:xfrm rot="5400000">
            <a:off x="3209482" y="3491922"/>
            <a:ext cx="2159998" cy="4130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C1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7968C3-03DD-4714-56EA-76C43EF74E54}"/>
              </a:ext>
            </a:extLst>
          </p:cNvPr>
          <p:cNvSpPr/>
          <p:nvPr/>
        </p:nvSpPr>
        <p:spPr>
          <a:xfrm rot="5400000">
            <a:off x="2627162" y="3491921"/>
            <a:ext cx="2159998" cy="4130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C0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FA2D6ED-04DB-1D6A-E7BE-2A7FD147934A}"/>
              </a:ext>
            </a:extLst>
          </p:cNvPr>
          <p:cNvGrpSpPr/>
          <p:nvPr/>
        </p:nvGrpSpPr>
        <p:grpSpPr>
          <a:xfrm>
            <a:off x="7231199" y="2618441"/>
            <a:ext cx="2160000" cy="2160000"/>
            <a:chOff x="882867" y="2579240"/>
            <a:chExt cx="2421585" cy="2011692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36AD807-29B6-8F08-EE80-DF8875D8DBE4}"/>
                </a:ext>
              </a:extLst>
            </p:cNvPr>
            <p:cNvSpPr/>
            <p:nvPr/>
          </p:nvSpPr>
          <p:spPr>
            <a:xfrm>
              <a:off x="882869" y="2579240"/>
              <a:ext cx="2421583" cy="3846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Z0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98BEE84-C5F3-6D46-E86E-DE0619D8ED3D}"/>
                </a:ext>
              </a:extLst>
            </p:cNvPr>
            <p:cNvSpPr/>
            <p:nvPr/>
          </p:nvSpPr>
          <p:spPr>
            <a:xfrm>
              <a:off x="882868" y="3121578"/>
              <a:ext cx="2421583" cy="3846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Z1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0F8D6C3-559D-6171-57A6-02ECC494DC5E}"/>
                </a:ext>
              </a:extLst>
            </p:cNvPr>
            <p:cNvSpPr/>
            <p:nvPr/>
          </p:nvSpPr>
          <p:spPr>
            <a:xfrm>
              <a:off x="882868" y="3663916"/>
              <a:ext cx="2421583" cy="3846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Z2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3F704A3-588C-9FF3-306D-BF977A3C5AA5}"/>
                </a:ext>
              </a:extLst>
            </p:cNvPr>
            <p:cNvSpPr/>
            <p:nvPr/>
          </p:nvSpPr>
          <p:spPr>
            <a:xfrm>
              <a:off x="882867" y="4206254"/>
              <a:ext cx="2421583" cy="3846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Z3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D727CF-0EE3-BFC4-3839-292373D3F256}"/>
              </a:ext>
            </a:extLst>
          </p:cNvPr>
          <p:cNvSpPr/>
          <p:nvPr/>
        </p:nvSpPr>
        <p:spPr>
          <a:xfrm rot="5400000">
            <a:off x="9115637" y="3491921"/>
            <a:ext cx="2159998" cy="4130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C0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979F037-3F11-3576-01B3-D9AFFB4887F1}"/>
              </a:ext>
            </a:extLst>
          </p:cNvPr>
          <p:cNvSpPr/>
          <p:nvPr/>
        </p:nvSpPr>
        <p:spPr>
          <a:xfrm>
            <a:off x="7231199" y="2618441"/>
            <a:ext cx="2159998" cy="4130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Z0_NEW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E7A8E1-6DA2-3B6C-83C0-77CC3A1AC96C}"/>
              </a:ext>
            </a:extLst>
          </p:cNvPr>
          <p:cNvSpPr txBox="1"/>
          <p:nvPr/>
        </p:nvSpPr>
        <p:spPr>
          <a:xfrm>
            <a:off x="10257859" y="4980115"/>
            <a:ext cx="117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A4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Corrupt!</a:t>
            </a:r>
            <a:endParaRPr lang="ko-KR" altLang="en-US" b="1" dirty="0">
              <a:solidFill>
                <a:srgbClr val="A4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4CFD24E-6800-2D90-8276-A145FD0FFD7E}"/>
              </a:ext>
            </a:extLst>
          </p:cNvPr>
          <p:cNvGrpSpPr/>
          <p:nvPr/>
        </p:nvGrpSpPr>
        <p:grpSpPr>
          <a:xfrm>
            <a:off x="10587035" y="2618441"/>
            <a:ext cx="413038" cy="2159998"/>
            <a:chOff x="10212316" y="2618443"/>
            <a:chExt cx="413038" cy="2159998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F9734F1-B4AE-DA0D-EDD0-1FC3C6EE73EA}"/>
                </a:ext>
              </a:extLst>
            </p:cNvPr>
            <p:cNvSpPr/>
            <p:nvPr/>
          </p:nvSpPr>
          <p:spPr>
            <a:xfrm rot="5400000">
              <a:off x="9338836" y="3491923"/>
              <a:ext cx="2159998" cy="41303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C1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275C031-FE3B-389E-FDA3-165473CF33A3}"/>
                </a:ext>
              </a:extLst>
            </p:cNvPr>
            <p:cNvSpPr/>
            <p:nvPr/>
          </p:nvSpPr>
          <p:spPr>
            <a:xfrm>
              <a:off x="10212316" y="2618443"/>
              <a:ext cx="413038" cy="4130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4C9BBA9-5F79-65A2-6FAA-691AEE333784}"/>
              </a:ext>
            </a:extLst>
          </p:cNvPr>
          <p:cNvSpPr txBox="1"/>
          <p:nvPr/>
        </p:nvSpPr>
        <p:spPr>
          <a:xfrm>
            <a:off x="1774683" y="5678737"/>
            <a:ext cx="330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Ping-pong structure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C2E27E-8D71-C712-2928-8524CA419CB2}"/>
              </a:ext>
            </a:extLst>
          </p:cNvPr>
          <p:cNvSpPr txBox="1"/>
          <p:nvPr/>
        </p:nvSpPr>
        <p:spPr>
          <a:xfrm>
            <a:off x="7540901" y="5678737"/>
            <a:ext cx="330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Dual-port w/o scheduling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6" name="그림 45" descr="Symbol">
            <a:extLst>
              <a:ext uri="{FF2B5EF4-FFF2-40B4-BE49-F238E27FC236}">
                <a16:creationId xmlns:a16="http://schemas.microsoft.com/office/drawing/2014/main" id="{87CDE979-CD92-4BB4-33EF-EC069CEA1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1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34" grpId="0" animBg="1"/>
      <p:bldP spid="36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6723D-513F-AEAC-A94C-D8AB1307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DD4F4-EF88-1220-FEAC-CCCCCC40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71" y="18255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Efficient TPMEM Scheduling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EC06EDE-C1DB-9B55-FEF0-C2B1436F8693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F04DC5-B5A0-197A-8CD7-B04B373AC9A9}"/>
              </a:ext>
            </a:extLst>
          </p:cNvPr>
          <p:cNvSpPr/>
          <p:nvPr/>
        </p:nvSpPr>
        <p:spPr>
          <a:xfrm>
            <a:off x="717074" y="2416336"/>
            <a:ext cx="2159998" cy="4130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Z0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3D8541-E046-826E-7DF2-F9E71E26DC3F}"/>
              </a:ext>
            </a:extLst>
          </p:cNvPr>
          <p:cNvSpPr/>
          <p:nvPr/>
        </p:nvSpPr>
        <p:spPr>
          <a:xfrm>
            <a:off x="717073" y="2998657"/>
            <a:ext cx="2159998" cy="4130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Z1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FB6C04-962A-FCDD-5885-51EF99E5CAE0}"/>
              </a:ext>
            </a:extLst>
          </p:cNvPr>
          <p:cNvSpPr/>
          <p:nvPr/>
        </p:nvSpPr>
        <p:spPr>
          <a:xfrm>
            <a:off x="717073" y="3580978"/>
            <a:ext cx="2159998" cy="4130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Z2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712D3D-18A0-4101-AF37-8F23470EB05C}"/>
              </a:ext>
            </a:extLst>
          </p:cNvPr>
          <p:cNvSpPr/>
          <p:nvPr/>
        </p:nvSpPr>
        <p:spPr>
          <a:xfrm>
            <a:off x="717072" y="4163298"/>
            <a:ext cx="2159998" cy="4130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Z3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5659628-510D-822F-DF55-488F1FBAEAFA}"/>
              </a:ext>
            </a:extLst>
          </p:cNvPr>
          <p:cNvGrpSpPr/>
          <p:nvPr/>
        </p:nvGrpSpPr>
        <p:grpSpPr>
          <a:xfrm>
            <a:off x="5007527" y="2416336"/>
            <a:ext cx="2160000" cy="2160000"/>
            <a:chOff x="882867" y="2579240"/>
            <a:chExt cx="2421585" cy="201169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D771B9E-8652-4630-8A1C-CCEECFE485E7}"/>
                </a:ext>
              </a:extLst>
            </p:cNvPr>
            <p:cNvSpPr/>
            <p:nvPr/>
          </p:nvSpPr>
          <p:spPr>
            <a:xfrm>
              <a:off x="882869" y="2579240"/>
              <a:ext cx="2421583" cy="38467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Z0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BB1573B-0053-9763-B7BC-0080D0960273}"/>
                </a:ext>
              </a:extLst>
            </p:cNvPr>
            <p:cNvSpPr/>
            <p:nvPr/>
          </p:nvSpPr>
          <p:spPr>
            <a:xfrm>
              <a:off x="882868" y="3121578"/>
              <a:ext cx="2421583" cy="38467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Z1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CE1A146-B7B2-47BA-F3A7-8B39C239DF42}"/>
                </a:ext>
              </a:extLst>
            </p:cNvPr>
            <p:cNvSpPr/>
            <p:nvPr/>
          </p:nvSpPr>
          <p:spPr>
            <a:xfrm>
              <a:off x="882868" y="3663916"/>
              <a:ext cx="2421583" cy="38467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Z2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CDB4B1B-6B6A-19E8-02D8-B587EA74E68B}"/>
                </a:ext>
              </a:extLst>
            </p:cNvPr>
            <p:cNvSpPr/>
            <p:nvPr/>
          </p:nvSpPr>
          <p:spPr>
            <a:xfrm>
              <a:off x="882867" y="4206254"/>
              <a:ext cx="2421583" cy="38467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Z3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2BBF3D-2F21-7E07-F6C3-D553FFA06118}"/>
              </a:ext>
            </a:extLst>
          </p:cNvPr>
          <p:cNvSpPr txBox="1"/>
          <p:nvPr/>
        </p:nvSpPr>
        <p:spPr>
          <a:xfrm>
            <a:off x="450697" y="5441556"/>
            <a:ext cx="3040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Phase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0: Row-wise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write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631C2-2034-904A-9DEA-E3A695AB00C6}"/>
              </a:ext>
            </a:extLst>
          </p:cNvPr>
          <p:cNvSpPr txBox="1"/>
          <p:nvPr/>
        </p:nvSpPr>
        <p:spPr>
          <a:xfrm>
            <a:off x="4656412" y="5441556"/>
            <a:ext cx="313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Phase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1: Column-wise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R/W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18C52C-7F85-45FB-3A54-C58E42026B6E}"/>
              </a:ext>
            </a:extLst>
          </p:cNvPr>
          <p:cNvSpPr txBox="1"/>
          <p:nvPr/>
        </p:nvSpPr>
        <p:spPr>
          <a:xfrm>
            <a:off x="9031520" y="5441556"/>
            <a:ext cx="2739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Phase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2: Row-wise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R/W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639AB2-B124-70A6-4CF3-D59AD2203938}"/>
              </a:ext>
            </a:extLst>
          </p:cNvPr>
          <p:cNvSpPr/>
          <p:nvPr/>
        </p:nvSpPr>
        <p:spPr>
          <a:xfrm rot="5400000">
            <a:off x="4110581" y="3289818"/>
            <a:ext cx="2159998" cy="4130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R/W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C05582E-B1A3-FA1D-8FA6-4A829E439F8B}"/>
              </a:ext>
            </a:extLst>
          </p:cNvPr>
          <p:cNvGrpSpPr/>
          <p:nvPr/>
        </p:nvGrpSpPr>
        <p:grpSpPr>
          <a:xfrm>
            <a:off x="5190580" y="1837573"/>
            <a:ext cx="2315601" cy="490274"/>
            <a:chOff x="5190581" y="1926063"/>
            <a:chExt cx="2315601" cy="49027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9664762-F973-5F14-9699-3847C72B4A15}"/>
                </a:ext>
              </a:extLst>
            </p:cNvPr>
            <p:cNvSpPr/>
            <p:nvPr/>
          </p:nvSpPr>
          <p:spPr>
            <a:xfrm>
              <a:off x="5721059" y="1926063"/>
              <a:ext cx="1785123" cy="28211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Z0_NEW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26" name="연결선: 구부러짐 25">
              <a:extLst>
                <a:ext uri="{FF2B5EF4-FFF2-40B4-BE49-F238E27FC236}">
                  <a16:creationId xmlns:a16="http://schemas.microsoft.com/office/drawing/2014/main" id="{B9EC292C-3AFB-8BC2-28DF-09A6538FC641}"/>
                </a:ext>
              </a:extLst>
            </p:cNvPr>
            <p:cNvCxnSpPr>
              <a:stCxn id="36" idx="1"/>
              <a:endCxn id="15" idx="1"/>
            </p:cNvCxnSpPr>
            <p:nvPr/>
          </p:nvCxnSpPr>
          <p:spPr>
            <a:xfrm rot="10800000" flipV="1">
              <a:off x="5190581" y="2067118"/>
              <a:ext cx="530479" cy="349219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19C4BB2-1F0B-9041-7A1A-B75BDB7227EF}"/>
              </a:ext>
            </a:extLst>
          </p:cNvPr>
          <p:cNvGrpSpPr/>
          <p:nvPr/>
        </p:nvGrpSpPr>
        <p:grpSpPr>
          <a:xfrm>
            <a:off x="5190581" y="4576335"/>
            <a:ext cx="2315602" cy="641819"/>
            <a:chOff x="5190580" y="4576335"/>
            <a:chExt cx="2315602" cy="64181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777A81E-CF10-EA7C-C8D9-35B1DAD7A0E9}"/>
                </a:ext>
              </a:extLst>
            </p:cNvPr>
            <p:cNvSpPr/>
            <p:nvPr/>
          </p:nvSpPr>
          <p:spPr>
            <a:xfrm>
              <a:off x="5721059" y="4936043"/>
              <a:ext cx="1785123" cy="28211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C0 (Transposed)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28" name="연결선: 구부러짐 27">
              <a:extLst>
                <a:ext uri="{FF2B5EF4-FFF2-40B4-BE49-F238E27FC236}">
                  <a16:creationId xmlns:a16="http://schemas.microsoft.com/office/drawing/2014/main" id="{2D19D46B-2060-30AC-80E1-311E87605217}"/>
                </a:ext>
              </a:extLst>
            </p:cNvPr>
            <p:cNvCxnSpPr>
              <a:stCxn id="15" idx="3"/>
              <a:endCxn id="13" idx="1"/>
            </p:cNvCxnSpPr>
            <p:nvPr/>
          </p:nvCxnSpPr>
          <p:spPr>
            <a:xfrm rot="16200000" flipH="1">
              <a:off x="5205438" y="4561477"/>
              <a:ext cx="500763" cy="530479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2373C77-3159-36C0-DE0A-C6F95EC00A8C}"/>
              </a:ext>
            </a:extLst>
          </p:cNvPr>
          <p:cNvGrpSpPr/>
          <p:nvPr/>
        </p:nvGrpSpPr>
        <p:grpSpPr>
          <a:xfrm>
            <a:off x="9224862" y="2436220"/>
            <a:ext cx="2160000" cy="2160000"/>
            <a:chOff x="3175519" y="2618443"/>
            <a:chExt cx="2160000" cy="2160000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89EDB4A-BAF1-6330-6096-A85167A7591B}"/>
                </a:ext>
              </a:extLst>
            </p:cNvPr>
            <p:cNvSpPr/>
            <p:nvPr/>
          </p:nvSpPr>
          <p:spPr>
            <a:xfrm rot="5400000">
              <a:off x="4049001" y="3491925"/>
              <a:ext cx="2159998" cy="41303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Z3_NEW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CDD8298-F3CD-E790-4546-A26B810381BA}"/>
                </a:ext>
              </a:extLst>
            </p:cNvPr>
            <p:cNvSpPr/>
            <p:nvPr/>
          </p:nvSpPr>
          <p:spPr>
            <a:xfrm rot="5400000">
              <a:off x="3466680" y="3491924"/>
              <a:ext cx="2159998" cy="41303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Z2_NEW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FEA8223-6004-6C7D-934E-E4A60C3E10AE}"/>
                </a:ext>
              </a:extLst>
            </p:cNvPr>
            <p:cNvSpPr/>
            <p:nvPr/>
          </p:nvSpPr>
          <p:spPr>
            <a:xfrm rot="5400000">
              <a:off x="2884359" y="3491924"/>
              <a:ext cx="2159998" cy="41303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Z1_NEW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1ED73A1-755D-6949-E537-FE5DA57F99C2}"/>
                </a:ext>
              </a:extLst>
            </p:cNvPr>
            <p:cNvSpPr/>
            <p:nvPr/>
          </p:nvSpPr>
          <p:spPr>
            <a:xfrm rot="5400000">
              <a:off x="2302039" y="3491923"/>
              <a:ext cx="2159998" cy="41303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Z0_NEW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442BE3A-5E0A-346F-0D14-167D0C991BEF}"/>
              </a:ext>
            </a:extLst>
          </p:cNvPr>
          <p:cNvSpPr/>
          <p:nvPr/>
        </p:nvSpPr>
        <p:spPr>
          <a:xfrm>
            <a:off x="9224864" y="2436219"/>
            <a:ext cx="2159998" cy="4130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R/W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41EFF7E1-6C22-4A88-CAB2-4BC448FBD5F8}"/>
              </a:ext>
            </a:extLst>
          </p:cNvPr>
          <p:cNvGrpSpPr/>
          <p:nvPr/>
        </p:nvGrpSpPr>
        <p:grpSpPr>
          <a:xfrm>
            <a:off x="9599739" y="1844881"/>
            <a:ext cx="1800164" cy="709367"/>
            <a:chOff x="9584698" y="1933371"/>
            <a:chExt cx="1800164" cy="709367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79136F5-0391-E5EB-CD65-C57F78ABF192}"/>
                </a:ext>
              </a:extLst>
            </p:cNvPr>
            <p:cNvSpPr/>
            <p:nvPr/>
          </p:nvSpPr>
          <p:spPr>
            <a:xfrm>
              <a:off x="9584698" y="1933371"/>
              <a:ext cx="1785123" cy="28211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Z0_NEW_NEW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47" name="연결선: 구부러짐 46">
              <a:extLst>
                <a:ext uri="{FF2B5EF4-FFF2-40B4-BE49-F238E27FC236}">
                  <a16:creationId xmlns:a16="http://schemas.microsoft.com/office/drawing/2014/main" id="{676F17EF-65EF-B0BE-208B-86E5B078161C}"/>
                </a:ext>
              </a:extLst>
            </p:cNvPr>
            <p:cNvCxnSpPr>
              <a:stCxn id="39" idx="3"/>
              <a:endCxn id="35" idx="3"/>
            </p:cNvCxnSpPr>
            <p:nvPr/>
          </p:nvCxnSpPr>
          <p:spPr>
            <a:xfrm>
              <a:off x="11369821" y="2074427"/>
              <a:ext cx="15041" cy="568311"/>
            </a:xfrm>
            <a:prstGeom prst="curvedConnector3">
              <a:avLst>
                <a:gd name="adj1" fmla="val 161984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97CD5C1-54F1-F5C9-A393-54F8A50144EA}"/>
              </a:ext>
            </a:extLst>
          </p:cNvPr>
          <p:cNvGrpSpPr/>
          <p:nvPr/>
        </p:nvGrpSpPr>
        <p:grpSpPr>
          <a:xfrm>
            <a:off x="9224863" y="2642737"/>
            <a:ext cx="1785123" cy="2545355"/>
            <a:chOff x="9219086" y="2642737"/>
            <a:chExt cx="1785123" cy="2545355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D4E75A5-997E-E746-24DD-B650E12FC9DF}"/>
                </a:ext>
              </a:extLst>
            </p:cNvPr>
            <p:cNvSpPr/>
            <p:nvPr/>
          </p:nvSpPr>
          <p:spPr>
            <a:xfrm>
              <a:off x="9219086" y="4905981"/>
              <a:ext cx="1785123" cy="28211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R0 (Transposed)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53" name="연결선: 구부러짐 52">
              <a:extLst>
                <a:ext uri="{FF2B5EF4-FFF2-40B4-BE49-F238E27FC236}">
                  <a16:creationId xmlns:a16="http://schemas.microsoft.com/office/drawing/2014/main" id="{0BAA495D-6CEA-FEBC-B78A-501641757391}"/>
                </a:ext>
              </a:extLst>
            </p:cNvPr>
            <p:cNvCxnSpPr>
              <a:stCxn id="35" idx="1"/>
              <a:endCxn id="40" idx="1"/>
            </p:cNvCxnSpPr>
            <p:nvPr/>
          </p:nvCxnSpPr>
          <p:spPr>
            <a:xfrm rot="10800000" flipV="1">
              <a:off x="9219086" y="2642737"/>
              <a:ext cx="5778" cy="2404299"/>
            </a:xfrm>
            <a:prstGeom prst="curvedConnector3">
              <a:avLst>
                <a:gd name="adj1" fmla="val 405638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F9C23403-90EE-1D27-80FD-4D357618B6EB}"/>
              </a:ext>
            </a:extLst>
          </p:cNvPr>
          <p:cNvSpPr txBox="1"/>
          <p:nvPr/>
        </p:nvSpPr>
        <p:spPr>
          <a:xfrm>
            <a:off x="2877072" y="6167659"/>
            <a:ext cx="643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Dual-port TPMEM with Proper Scheduling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9" name="그림 68" descr="Symbol">
            <a:extLst>
              <a:ext uri="{FF2B5EF4-FFF2-40B4-BE49-F238E27FC236}">
                <a16:creationId xmlns:a16="http://schemas.microsoft.com/office/drawing/2014/main" id="{CCED3F8A-44A9-C8C4-D580-77C80D05F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4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1" grpId="0"/>
      <p:bldP spid="12" grpId="0"/>
      <p:bldP spid="15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238DC95-5D8D-7451-F556-D36F48B73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03" y="1909095"/>
            <a:ext cx="5401843" cy="30398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6290C76-1757-0346-7A9E-801848404A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472" y="1909095"/>
            <a:ext cx="5343936" cy="303981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B2CE547B-0E79-838F-1E6F-2110A32D7B8D}"/>
              </a:ext>
            </a:extLst>
          </p:cNvPr>
          <p:cNvSpPr txBox="1">
            <a:spLocks/>
          </p:cNvSpPr>
          <p:nvPr/>
        </p:nvSpPr>
        <p:spPr>
          <a:xfrm>
            <a:off x="290671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>
                <a:latin typeface="나눔고딕" panose="020D0604000000000000" pitchFamily="50" charset="-127"/>
                <a:ea typeface="나눔고딕" panose="020D0604000000000000" pitchFamily="50" charset="-127"/>
              </a:rPr>
              <a:t>Quantization Profiling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6522E7C-B42B-536D-08B8-E8FA29CF67C2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A596A99-2842-E797-F622-31726B47EB72}"/>
              </a:ext>
            </a:extLst>
          </p:cNvPr>
          <p:cNvSpPr txBox="1"/>
          <p:nvPr/>
        </p:nvSpPr>
        <p:spPr>
          <a:xfrm>
            <a:off x="686084" y="5447903"/>
            <a:ext cx="10819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High frequency signals (dark blue region) are mostly quantized to zero</a:t>
            </a:r>
            <a:endParaRPr lang="ko-KR" altLang="en-US" sz="2400" b="1" dirty="0"/>
          </a:p>
        </p:txBody>
      </p:sp>
      <p:pic>
        <p:nvPicPr>
          <p:cNvPr id="4" name="그림 3" descr="Symbol">
            <a:extLst>
              <a:ext uri="{FF2B5EF4-FFF2-40B4-BE49-F238E27FC236}">
                <a16:creationId xmlns:a16="http://schemas.microsoft.com/office/drawing/2014/main" id="{D35A33DA-A0DE-B62C-9C37-53ED378DD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2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32ADB-76A6-5FA9-8F41-85FA81EA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D16E81F-BAC2-998E-CEE7-276855C1AF81}"/>
              </a:ext>
            </a:extLst>
          </p:cNvPr>
          <p:cNvSpPr txBox="1">
            <a:spLocks/>
          </p:cNvSpPr>
          <p:nvPr/>
        </p:nvSpPr>
        <p:spPr>
          <a:xfrm>
            <a:off x="290671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Zero Substitution of AC Signals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29C0172-D3E7-4201-716D-1B3EFB155E49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C6506C2-8EBD-429B-05F5-19A6C8738239}"/>
              </a:ext>
            </a:extLst>
          </p:cNvPr>
          <p:cNvGrpSpPr/>
          <p:nvPr/>
        </p:nvGrpSpPr>
        <p:grpSpPr>
          <a:xfrm>
            <a:off x="3147504" y="2084426"/>
            <a:ext cx="2153993" cy="1964029"/>
            <a:chOff x="1339401" y="1893194"/>
            <a:chExt cx="2153993" cy="196402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ECED4FC-8219-0372-CE3E-4D2D39D53EC6}"/>
                </a:ext>
              </a:extLst>
            </p:cNvPr>
            <p:cNvSpPr/>
            <p:nvPr/>
          </p:nvSpPr>
          <p:spPr>
            <a:xfrm>
              <a:off x="1339402" y="1893195"/>
              <a:ext cx="1964028" cy="196402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5C6625C-4985-85EC-7A1E-0DFC388B04D0}"/>
                </a:ext>
              </a:extLst>
            </p:cNvPr>
            <p:cNvCxnSpPr/>
            <p:nvPr/>
          </p:nvCxnSpPr>
          <p:spPr>
            <a:xfrm flipV="1">
              <a:off x="1339401" y="1893194"/>
              <a:ext cx="1964029" cy="19640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3132C64-1EAB-9E96-41F8-CD6E57013B8F}"/>
                </a:ext>
              </a:extLst>
            </p:cNvPr>
            <p:cNvSpPr txBox="1"/>
            <p:nvPr/>
          </p:nvSpPr>
          <p:spPr>
            <a:xfrm>
              <a:off x="2211946" y="3132422"/>
              <a:ext cx="12814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Discard!</a:t>
              </a:r>
              <a:endPara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C328F2B-341C-3A46-C058-70DA5709A52D}"/>
              </a:ext>
            </a:extLst>
          </p:cNvPr>
          <p:cNvGrpSpPr/>
          <p:nvPr/>
        </p:nvGrpSpPr>
        <p:grpSpPr>
          <a:xfrm>
            <a:off x="7248829" y="2088185"/>
            <a:ext cx="2153993" cy="1964028"/>
            <a:chOff x="1339401" y="4215685"/>
            <a:chExt cx="2153993" cy="19640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A790AEC-D932-DC20-85F4-B05E15200AAB}"/>
                </a:ext>
              </a:extLst>
            </p:cNvPr>
            <p:cNvSpPr/>
            <p:nvPr/>
          </p:nvSpPr>
          <p:spPr>
            <a:xfrm>
              <a:off x="1339401" y="4215685"/>
              <a:ext cx="1964028" cy="196402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EF8CCE4-2A64-9848-2258-5F8A73808E9A}"/>
                </a:ext>
              </a:extLst>
            </p:cNvPr>
            <p:cNvSpPr/>
            <p:nvPr/>
          </p:nvSpPr>
          <p:spPr>
            <a:xfrm>
              <a:off x="1339401" y="4215685"/>
              <a:ext cx="1463052" cy="146305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9F574D8-7EC7-21C9-A015-576EF976945A}"/>
                </a:ext>
              </a:extLst>
            </p:cNvPr>
            <p:cNvSpPr txBox="1"/>
            <p:nvPr/>
          </p:nvSpPr>
          <p:spPr>
            <a:xfrm>
              <a:off x="2211946" y="5744559"/>
              <a:ext cx="12814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Discard!</a:t>
              </a:r>
              <a:endPara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0CC8F99-93EA-A59B-E12B-987963B3B567}"/>
              </a:ext>
            </a:extLst>
          </p:cNvPr>
          <p:cNvSpPr txBox="1"/>
          <p:nvPr/>
        </p:nvSpPr>
        <p:spPr>
          <a:xfrm>
            <a:off x="2979144" y="1550540"/>
            <a:ext cx="230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Diagonal TPMEM2</a:t>
            </a:r>
            <a:endParaRPr lang="ko-KR" alt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409912-CD1E-6134-BF4F-E82DF06EF96B}"/>
              </a:ext>
            </a:extLst>
          </p:cNvPr>
          <p:cNvSpPr txBox="1"/>
          <p:nvPr/>
        </p:nvSpPr>
        <p:spPr>
          <a:xfrm>
            <a:off x="7080469" y="1557801"/>
            <a:ext cx="230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Square TPMEM2</a:t>
            </a:r>
            <a:endParaRPr lang="ko-KR" altLang="en-US" b="1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B90BF905-F804-5E3D-4C43-E9BA67569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658104"/>
              </p:ext>
            </p:extLst>
          </p:nvPr>
        </p:nvGraphicFramePr>
        <p:xfrm>
          <a:off x="2125586" y="4406245"/>
          <a:ext cx="7940828" cy="209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616">
                  <a:extLst>
                    <a:ext uri="{9D8B030D-6E8A-4147-A177-3AD203B41FA5}">
                      <a16:colId xmlns:a16="http://schemas.microsoft.com/office/drawing/2014/main" val="2968029718"/>
                    </a:ext>
                  </a:extLst>
                </a:gridCol>
                <a:gridCol w="3111738">
                  <a:extLst>
                    <a:ext uri="{9D8B030D-6E8A-4147-A177-3AD203B41FA5}">
                      <a16:colId xmlns:a16="http://schemas.microsoft.com/office/drawing/2014/main" val="3583568568"/>
                    </a:ext>
                  </a:extLst>
                </a:gridCol>
                <a:gridCol w="2812474">
                  <a:extLst>
                    <a:ext uri="{9D8B030D-6E8A-4147-A177-3AD203B41FA5}">
                      <a16:colId xmlns:a16="http://schemas.microsoft.com/office/drawing/2014/main" val="2363534549"/>
                    </a:ext>
                  </a:extLst>
                </a:gridCol>
              </a:tblGrid>
              <a:tr h="346007"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Diagonal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Square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027484"/>
                  </a:ext>
                </a:extLst>
              </a:tr>
              <a:tr h="34600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# of Blocks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136 Blocks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144 Blocks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779828"/>
                  </a:ext>
                </a:extLst>
              </a:tr>
              <a:tr h="56140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Non-combinational Area Reduction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46.875%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43.75%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078385"/>
                  </a:ext>
                </a:extLst>
              </a:tr>
              <a:tr h="79778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Characteristics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Worse PSNR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Potentially harder to schedule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Better PSNR</a:t>
                      </a: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Intuitive scheduling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17039"/>
                  </a:ext>
                </a:extLst>
              </a:tr>
            </a:tbl>
          </a:graphicData>
        </a:graphic>
      </p:graphicFrame>
      <p:pic>
        <p:nvPicPr>
          <p:cNvPr id="25" name="그림 24" descr="Symbol">
            <a:extLst>
              <a:ext uri="{FF2B5EF4-FFF2-40B4-BE49-F238E27FC236}">
                <a16:creationId xmlns:a16="http://schemas.microsoft.com/office/drawing/2014/main" id="{DA066934-41FF-194F-9D4A-BA29C6BED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954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64D00-AD6C-BD4A-4FD9-71D01960C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8B86F4F-C512-3394-C339-C010D72702CC}"/>
              </a:ext>
            </a:extLst>
          </p:cNvPr>
          <p:cNvSpPr txBox="1">
            <a:spLocks/>
          </p:cNvSpPr>
          <p:nvPr/>
        </p:nvSpPr>
        <p:spPr>
          <a:xfrm>
            <a:off x="290671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Bit Width Profiling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9CF1270-E35A-9952-2BA7-E782396B3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653204"/>
              </p:ext>
            </p:extLst>
          </p:nvPr>
        </p:nvGraphicFramePr>
        <p:xfrm>
          <a:off x="2031999" y="2766218"/>
          <a:ext cx="8128002" cy="13255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62586175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6668772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447668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059376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221530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40832297"/>
                    </a:ext>
                  </a:extLst>
                </a:gridCol>
              </a:tblGrid>
              <a:tr h="4862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Bit Width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C8 BW 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C8 BW10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C6 BW12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C6 BW10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C6 BW9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893173"/>
                  </a:ext>
                </a:extLst>
              </a:tr>
              <a:tr h="839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Minimum PSNR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30.11587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29.90643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29.96290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29.77558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29.01205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790215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8C5DAD9-FE0D-0705-4A3C-212650B6C906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5797CD2A-D462-5040-1B9F-C8D3A2C06A64}"/>
              </a:ext>
            </a:extLst>
          </p:cNvPr>
          <p:cNvGrpSpPr/>
          <p:nvPr/>
        </p:nvGrpSpPr>
        <p:grpSpPr>
          <a:xfrm>
            <a:off x="5029788" y="4442213"/>
            <a:ext cx="6216740" cy="1058930"/>
            <a:chOff x="5029788" y="4442213"/>
            <a:chExt cx="6216740" cy="1058930"/>
          </a:xfrm>
        </p:grpSpPr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C30A693B-C0FF-3EF0-699B-C1F2B4EDE162}"/>
                </a:ext>
              </a:extLst>
            </p:cNvPr>
            <p:cNvSpPr/>
            <p:nvPr/>
          </p:nvSpPr>
          <p:spPr>
            <a:xfrm rot="10800000">
              <a:off x="7981825" y="4442213"/>
              <a:ext cx="312667" cy="454250"/>
            </a:xfrm>
            <a:prstGeom prst="downArrow">
              <a:avLst>
                <a:gd name="adj1" fmla="val 31250"/>
                <a:gd name="adj2" fmla="val 60937"/>
              </a:avLst>
            </a:prstGeom>
            <a:solidFill>
              <a:srgbClr val="862633"/>
            </a:solidFill>
            <a:ln>
              <a:solidFill>
                <a:srgbClr val="8626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93EF06-D29C-4716-7701-91D3BA39DFAC}"/>
                </a:ext>
              </a:extLst>
            </p:cNvPr>
            <p:cNvSpPr txBox="1"/>
            <p:nvPr/>
          </p:nvSpPr>
          <p:spPr>
            <a:xfrm>
              <a:off x="5029788" y="5131811"/>
              <a:ext cx="62167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Optimal bit width w/o significant quality degradation</a:t>
              </a:r>
              <a:endPara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10" name="그림 9" descr="Symbol">
            <a:extLst>
              <a:ext uri="{FF2B5EF4-FFF2-40B4-BE49-F238E27FC236}">
                <a16:creationId xmlns:a16="http://schemas.microsoft.com/office/drawing/2014/main" id="{56F6B3FE-E8FA-0AA3-C2E5-DC1EE2273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2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32EB4-AC96-279A-8306-21BF6B78A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48DFBA4-FF8D-57BA-435A-6995CB7D5951}"/>
              </a:ext>
            </a:extLst>
          </p:cNvPr>
          <p:cNvSpPr txBox="1">
            <a:spLocks/>
          </p:cNvSpPr>
          <p:nvPr/>
        </p:nvSpPr>
        <p:spPr>
          <a:xfrm>
            <a:off x="290671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Truncation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A446926-1298-B2AB-CCB3-A76430C8B520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B4FED3-729A-7B28-9397-D3F6A58E9F3E}"/>
              </a:ext>
            </a:extLst>
          </p:cNvPr>
          <p:cNvSpPr txBox="1"/>
          <p:nvPr/>
        </p:nvSpPr>
        <p:spPr>
          <a:xfrm>
            <a:off x="2920632" y="3255935"/>
            <a:ext cx="3948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LSB of the integer is lost!</a:t>
            </a:r>
          </a:p>
          <a:p>
            <a:r>
              <a:rPr lang="en-US" altLang="ko-KR" b="1" dirty="0"/>
              <a:t>Effectively dividing the result by 2.</a:t>
            </a:r>
            <a:endParaRPr lang="ko-KR" altLang="en-US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34E60C-DAFA-FF6E-E277-6885FE51D36A}"/>
              </a:ext>
            </a:extLst>
          </p:cNvPr>
          <p:cNvSpPr/>
          <p:nvPr/>
        </p:nvSpPr>
        <p:spPr>
          <a:xfrm>
            <a:off x="901772" y="1716211"/>
            <a:ext cx="1019263" cy="171278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1D-DCT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A5D202-63AF-E4AE-F7FC-B91735D9DE8D}"/>
              </a:ext>
            </a:extLst>
          </p:cNvPr>
          <p:cNvSpPr/>
          <p:nvPr/>
        </p:nvSpPr>
        <p:spPr>
          <a:xfrm>
            <a:off x="9960204" y="4354293"/>
            <a:ext cx="1019263" cy="171278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2D-DCT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92CEEB-9F24-EC6C-F70A-5F44D546E169}"/>
              </a:ext>
            </a:extLst>
          </p:cNvPr>
          <p:cNvSpPr/>
          <p:nvPr/>
        </p:nvSpPr>
        <p:spPr>
          <a:xfrm>
            <a:off x="3920229" y="2336172"/>
            <a:ext cx="2683817" cy="337308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12-bit Integer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DE26416-CDF9-8B54-A7F7-FF9329FFA842}"/>
              </a:ext>
            </a:extLst>
          </p:cNvPr>
          <p:cNvSpPr/>
          <p:nvPr/>
        </p:nvSpPr>
        <p:spPr>
          <a:xfrm>
            <a:off x="6756446" y="2336172"/>
            <a:ext cx="1631874" cy="337308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5-bit Decimal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2A5107-81FE-834D-CE81-D731FB303E6D}"/>
              </a:ext>
            </a:extLst>
          </p:cNvPr>
          <p:cNvSpPr/>
          <p:nvPr/>
        </p:nvSpPr>
        <p:spPr>
          <a:xfrm>
            <a:off x="4108745" y="2336172"/>
            <a:ext cx="2306783" cy="3373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10-bit Integer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523294F-34D9-DCBD-0731-9190096C5E2D}"/>
              </a:ext>
            </a:extLst>
          </p:cNvPr>
          <p:cNvSpPr/>
          <p:nvPr/>
        </p:nvSpPr>
        <p:spPr>
          <a:xfrm>
            <a:off x="6651824" y="2603715"/>
            <a:ext cx="56625" cy="56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6E7F65D-08F8-9EB4-22FC-D02803B2CCBE}"/>
              </a:ext>
            </a:extLst>
          </p:cNvPr>
          <p:cNvSpPr/>
          <p:nvPr/>
        </p:nvSpPr>
        <p:spPr>
          <a:xfrm>
            <a:off x="3332019" y="5019008"/>
            <a:ext cx="3272028" cy="337308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14-bit Integer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572AA48-DA19-EE6D-A97E-6AF4944C8979}"/>
              </a:ext>
            </a:extLst>
          </p:cNvPr>
          <p:cNvSpPr/>
          <p:nvPr/>
        </p:nvSpPr>
        <p:spPr>
          <a:xfrm>
            <a:off x="6756446" y="5019008"/>
            <a:ext cx="1631874" cy="337308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5-bit Decimal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309BBD82-FF5F-80C8-870C-BEA133F7C85B}"/>
              </a:ext>
            </a:extLst>
          </p:cNvPr>
          <p:cNvSpPr/>
          <p:nvPr/>
        </p:nvSpPr>
        <p:spPr>
          <a:xfrm>
            <a:off x="6651824" y="5286551"/>
            <a:ext cx="56625" cy="56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09B65B-F768-5BB9-BDDC-FF79A32249AD}"/>
              </a:ext>
            </a:extLst>
          </p:cNvPr>
          <p:cNvSpPr/>
          <p:nvPr/>
        </p:nvSpPr>
        <p:spPr>
          <a:xfrm>
            <a:off x="4058671" y="5060950"/>
            <a:ext cx="2979600" cy="2534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Q11.1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19C0D0D-7529-4A61-B926-3D771ED4C3F4}"/>
              </a:ext>
            </a:extLst>
          </p:cNvPr>
          <p:cNvSpPr/>
          <p:nvPr/>
        </p:nvSpPr>
        <p:spPr>
          <a:xfrm>
            <a:off x="4299472" y="5060950"/>
            <a:ext cx="2979600" cy="2534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Q10.2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24CCF-C8BC-5A28-863F-AB62CFD0E9FE}"/>
              </a:ext>
            </a:extLst>
          </p:cNvPr>
          <p:cNvSpPr txBox="1"/>
          <p:nvPr/>
        </p:nvSpPr>
        <p:spPr>
          <a:xfrm>
            <a:off x="3322566" y="5601309"/>
            <a:ext cx="5546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MATLAB expects Q11.1 format.</a:t>
            </a:r>
          </a:p>
          <a:p>
            <a:r>
              <a:rPr lang="en-US" altLang="ko-KR" b="1" dirty="0"/>
              <a:t>We should truncate the result to Q10.2 to compensate for the LSB loss in the first DCT</a:t>
            </a:r>
          </a:p>
        </p:txBody>
      </p: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3AB73ECF-3E57-F9E5-EBD9-15329174A29C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 rot="16200000" flipH="1">
            <a:off x="7025580" y="910036"/>
            <a:ext cx="1680813" cy="520769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915EE00F-4500-B6D9-FE4D-A5DAF9F5DFFE}"/>
              </a:ext>
            </a:extLst>
          </p:cNvPr>
          <p:cNvCxnSpPr>
            <a:stCxn id="5" idx="3"/>
            <a:endCxn id="12" idx="1"/>
          </p:cNvCxnSpPr>
          <p:nvPr/>
        </p:nvCxnSpPr>
        <p:spPr>
          <a:xfrm flipV="1">
            <a:off x="1921035" y="2504826"/>
            <a:ext cx="1999194" cy="6778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0698078E-732B-F126-91BC-9E6AEE1B8E54}"/>
              </a:ext>
            </a:extLst>
          </p:cNvPr>
          <p:cNvCxnSpPr>
            <a:stCxn id="10" idx="1"/>
            <a:endCxn id="17" idx="3"/>
          </p:cNvCxnSpPr>
          <p:nvPr/>
        </p:nvCxnSpPr>
        <p:spPr>
          <a:xfrm rot="10800000">
            <a:off x="8388320" y="5187662"/>
            <a:ext cx="1571884" cy="2302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C03E82-7A72-5C7B-CC50-70E2D8ABF719}"/>
              </a:ext>
            </a:extLst>
          </p:cNvPr>
          <p:cNvSpPr/>
          <p:nvPr/>
        </p:nvSpPr>
        <p:spPr>
          <a:xfrm>
            <a:off x="901772" y="4669649"/>
            <a:ext cx="1094016" cy="1082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TPMEM2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AAFE639A-8E80-6DEE-E8AE-8805CA63DE61}"/>
              </a:ext>
            </a:extLst>
          </p:cNvPr>
          <p:cNvCxnSpPr>
            <a:cxnSpLocks/>
            <a:stCxn id="20" idx="1"/>
            <a:endCxn id="28" idx="3"/>
          </p:cNvCxnSpPr>
          <p:nvPr/>
        </p:nvCxnSpPr>
        <p:spPr>
          <a:xfrm rot="10800000" flipV="1">
            <a:off x="1995788" y="5187663"/>
            <a:ext cx="2303684" cy="23024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그림 32" descr="Symbol">
            <a:extLst>
              <a:ext uri="{FF2B5EF4-FFF2-40B4-BE49-F238E27FC236}">
                <a16:creationId xmlns:a16="http://schemas.microsoft.com/office/drawing/2014/main" id="{C2C75DB7-FB89-B19A-8C9E-1F684F597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6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18" grpId="0" animBg="1"/>
      <p:bldP spid="18" grpId="1" animBg="1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B0AC7-0ECF-6EB3-3828-039D1EAEE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056966B-1067-AD7B-4670-2E3D0A435802}"/>
              </a:ext>
            </a:extLst>
          </p:cNvPr>
          <p:cNvSpPr txBox="1">
            <a:spLocks/>
          </p:cNvSpPr>
          <p:nvPr/>
        </p:nvSpPr>
        <p:spPr>
          <a:xfrm>
            <a:off x="290671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Multiplier Removal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C9C9465-6E5D-372E-4AB5-9251EBCC8741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EB5DE7-F4AD-B40E-BB16-24F8B8D0DD99}"/>
                  </a:ext>
                </a:extLst>
              </p:cNvPr>
              <p:cNvSpPr txBox="1"/>
              <p:nvPr/>
            </p:nvSpPr>
            <p:spPr>
              <a:xfrm>
                <a:off x="1847603" y="1775663"/>
                <a:ext cx="3393583" cy="4250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=0.10</m:t>
                      </m:r>
                      <m:acc>
                        <m:accPr>
                          <m:chr m:val="̅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=0.10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=0.10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=0.01010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=0.01010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=0.01001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=0.01001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=0.01000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=0.0100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=0.010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=0.00101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=0.00100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=0.0010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=0.00010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=0.00001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EB5DE7-F4AD-B40E-BB16-24F8B8D0D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603" y="1775663"/>
                <a:ext cx="3393583" cy="4250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88B24FF-8AE7-78E3-D39E-24E52B5745A0}"/>
                  </a:ext>
                </a:extLst>
              </p:cNvPr>
              <p:cNvSpPr txBox="1"/>
              <p:nvPr/>
            </p:nvSpPr>
            <p:spPr>
              <a:xfrm>
                <a:off x="6671588" y="1775663"/>
                <a:ext cx="3204824" cy="4247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≪4 −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≪2 −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≪4 −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≪2 −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≪4 −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≪2 −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≪3+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≪1</m:t>
                    </m:r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≪3+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≪1</m:t>
                    </m:r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≪3+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≪3+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≪3</m:t>
                    </m:r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≪3−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≪3−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≪1</m:t>
                    </m:r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≪2+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≪2</m:t>
                    </m:r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≪2−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≪1</m:t>
                    </m:r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88B24FF-8AE7-78E3-D39E-24E52B574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588" y="1775663"/>
                <a:ext cx="3204824" cy="4247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C4A9079-AECC-7C21-654C-4C5C66C99856}"/>
                  </a:ext>
                </a:extLst>
              </p:cNvPr>
              <p:cNvSpPr txBox="1"/>
              <p:nvPr/>
            </p:nvSpPr>
            <p:spPr>
              <a:xfrm>
                <a:off x="4654007" y="3716386"/>
                <a:ext cx="20175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dirty="0"/>
                  <a:t>     </a:t>
                </a:r>
                <a:r>
                  <a:rPr lang="en-US" altLang="ko-KR" dirty="0"/>
                  <a:t>=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C4A9079-AECC-7C21-654C-4C5C66C99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007" y="3716386"/>
                <a:ext cx="2017581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" name="그림 78" descr="Symbol">
            <a:extLst>
              <a:ext uri="{FF2B5EF4-FFF2-40B4-BE49-F238E27FC236}">
                <a16:creationId xmlns:a16="http://schemas.microsoft.com/office/drawing/2014/main" id="{97B81221-012E-CDDC-DC52-0AB7E56017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77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7104-48B5-92CC-D51B-4E5E6F499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9C5A895-85AB-3A04-E719-B1509DD4A1F8}"/>
              </a:ext>
            </a:extLst>
          </p:cNvPr>
          <p:cNvSpPr txBox="1">
            <a:spLocks/>
          </p:cNvSpPr>
          <p:nvPr/>
        </p:nvSpPr>
        <p:spPr>
          <a:xfrm>
            <a:off x="290671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Computation Sharing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DAB9E39-BCDA-13BA-6402-6D36940C5FC9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1C4F4CD-B8D3-9862-B773-E8DE9A4D2863}"/>
              </a:ext>
            </a:extLst>
          </p:cNvPr>
          <p:cNvGrpSpPr/>
          <p:nvPr/>
        </p:nvGrpSpPr>
        <p:grpSpPr>
          <a:xfrm>
            <a:off x="890667" y="1721876"/>
            <a:ext cx="2947594" cy="4555917"/>
            <a:chOff x="4097505" y="1605966"/>
            <a:chExt cx="2947594" cy="4555917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5F751D8A-F0D4-1440-686E-4BC2690A92EB}"/>
                </a:ext>
              </a:extLst>
            </p:cNvPr>
            <p:cNvGrpSpPr/>
            <p:nvPr/>
          </p:nvGrpSpPr>
          <p:grpSpPr>
            <a:xfrm>
              <a:off x="4097505" y="1637568"/>
              <a:ext cx="2094738" cy="4524315"/>
              <a:chOff x="6175687" y="1609859"/>
              <a:chExt cx="2094738" cy="4524315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34F5FE-8EAF-49C8-FB0C-118ABE3B3D67}"/>
                  </a:ext>
                </a:extLst>
              </p:cNvPr>
              <p:cNvSpPr txBox="1"/>
              <p:nvPr/>
            </p:nvSpPr>
            <p:spPr>
              <a:xfrm rot="5400000">
                <a:off x="7047863" y="4185690"/>
                <a:ext cx="2537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…</a:t>
                </a:r>
              </a:p>
              <a:p>
                <a:endParaRPr lang="ko-KR" altLang="en-US" dirty="0"/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1D3B22C4-0E32-30A9-7068-22E37876993A}"/>
                  </a:ext>
                </a:extLst>
              </p:cNvPr>
              <p:cNvGrpSpPr/>
              <p:nvPr/>
            </p:nvGrpSpPr>
            <p:grpSpPr>
              <a:xfrm>
                <a:off x="6175687" y="1609859"/>
                <a:ext cx="2094738" cy="1118235"/>
                <a:chOff x="6431996" y="2008767"/>
                <a:chExt cx="2094738" cy="1118235"/>
              </a:xfrm>
            </p:grpSpPr>
            <p:grpSp>
              <p:nvGrpSpPr>
                <p:cNvPr id="16" name="그룹 15">
                  <a:extLst>
                    <a:ext uri="{FF2B5EF4-FFF2-40B4-BE49-F238E27FC236}">
                      <a16:creationId xmlns:a16="http://schemas.microsoft.com/office/drawing/2014/main" id="{C0A63A29-F6BB-3ADA-63CE-4ED122A806A2}"/>
                    </a:ext>
                  </a:extLst>
                </p:cNvPr>
                <p:cNvGrpSpPr/>
                <p:nvPr/>
              </p:nvGrpSpPr>
              <p:grpSpPr>
                <a:xfrm>
                  <a:off x="6929753" y="2018298"/>
                  <a:ext cx="1596981" cy="1085282"/>
                  <a:chOff x="6929753" y="2018298"/>
                  <a:chExt cx="1596981" cy="1085282"/>
                </a:xfrm>
              </p:grpSpPr>
              <p:cxnSp>
                <p:nvCxnSpPr>
                  <p:cNvPr id="9" name="직선 연결선 8">
                    <a:extLst>
                      <a:ext uri="{FF2B5EF4-FFF2-40B4-BE49-F238E27FC236}">
                        <a16:creationId xmlns:a16="http://schemas.microsoft.com/office/drawing/2014/main" id="{40B1472A-C6FD-92C7-7FEA-CA957B744372}"/>
                      </a:ext>
                    </a:extLst>
                  </p:cNvPr>
                  <p:cNvCxnSpPr/>
                  <p:nvPr/>
                </p:nvCxnSpPr>
                <p:spPr>
                  <a:xfrm>
                    <a:off x="6929753" y="2193433"/>
                    <a:ext cx="1596981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직선 연결선 9">
                    <a:extLst>
                      <a:ext uri="{FF2B5EF4-FFF2-40B4-BE49-F238E27FC236}">
                        <a16:creationId xmlns:a16="http://schemas.microsoft.com/office/drawing/2014/main" id="{A74A723D-6E58-6EC7-88B5-06F175644646}"/>
                      </a:ext>
                    </a:extLst>
                  </p:cNvPr>
                  <p:cNvCxnSpPr/>
                  <p:nvPr/>
                </p:nvCxnSpPr>
                <p:spPr>
                  <a:xfrm>
                    <a:off x="6929753" y="2944701"/>
                    <a:ext cx="1596981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직선 연결선 10">
                    <a:extLst>
                      <a:ext uri="{FF2B5EF4-FFF2-40B4-BE49-F238E27FC236}">
                        <a16:creationId xmlns:a16="http://schemas.microsoft.com/office/drawing/2014/main" id="{09074135-C57C-39FE-A5B2-05EFEEAF54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419178" y="2193433"/>
                    <a:ext cx="618129" cy="751268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직선 연결선 12">
                    <a:extLst>
                      <a:ext uri="{FF2B5EF4-FFF2-40B4-BE49-F238E27FC236}">
                        <a16:creationId xmlns:a16="http://schemas.microsoft.com/office/drawing/2014/main" id="{E841EE29-DB17-9BC8-2EDC-CF83E4340F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419177" y="2193433"/>
                    <a:ext cx="618129" cy="751268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16DBEE64-4DEA-1205-67A4-8AB6DFBCA92A}"/>
                      </a:ext>
                    </a:extLst>
                  </p:cNvPr>
                  <p:cNvSpPr/>
                  <p:nvPr/>
                </p:nvSpPr>
                <p:spPr>
                  <a:xfrm>
                    <a:off x="7876062" y="2018298"/>
                    <a:ext cx="322487" cy="322487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+</a:t>
                    </a:r>
                    <a:endPara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7A7CD4C-37D4-0D63-10CE-5224685A170C}"/>
                      </a:ext>
                    </a:extLst>
                  </p:cNvPr>
                  <p:cNvSpPr/>
                  <p:nvPr/>
                </p:nvSpPr>
                <p:spPr>
                  <a:xfrm>
                    <a:off x="7885833" y="2781093"/>
                    <a:ext cx="322487" cy="322487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-</a:t>
                    </a:r>
                    <a:endPara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74A3500-9202-1D07-990A-872C736D2DC7}"/>
                    </a:ext>
                  </a:extLst>
                </p:cNvPr>
                <p:cNvSpPr txBox="1"/>
                <p:nvPr/>
              </p:nvSpPr>
              <p:spPr>
                <a:xfrm>
                  <a:off x="6548767" y="2008767"/>
                  <a:ext cx="61334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x0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CD0AA02-8C1F-3BBC-C7BA-FF189ED4AEE9}"/>
                    </a:ext>
                  </a:extLst>
                </p:cNvPr>
                <p:cNvSpPr txBox="1"/>
                <p:nvPr/>
              </p:nvSpPr>
              <p:spPr>
                <a:xfrm>
                  <a:off x="6431996" y="2757670"/>
                  <a:ext cx="61334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x15</a:t>
                  </a:r>
                </a:p>
              </p:txBody>
            </p:sp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8EDDF245-9E2D-17C0-8CE5-6AE39A32DFBE}"/>
                  </a:ext>
                </a:extLst>
              </p:cNvPr>
              <p:cNvGrpSpPr/>
              <p:nvPr/>
            </p:nvGrpSpPr>
            <p:grpSpPr>
              <a:xfrm>
                <a:off x="6175687" y="2953259"/>
                <a:ext cx="2094738" cy="1118235"/>
                <a:chOff x="6431996" y="2008767"/>
                <a:chExt cx="2094738" cy="1118235"/>
              </a:xfrm>
            </p:grpSpPr>
            <p:grpSp>
              <p:nvGrpSpPr>
                <p:cNvPr id="32" name="그룹 31">
                  <a:extLst>
                    <a:ext uri="{FF2B5EF4-FFF2-40B4-BE49-F238E27FC236}">
                      <a16:creationId xmlns:a16="http://schemas.microsoft.com/office/drawing/2014/main" id="{BD4A8415-2464-7CE0-AA94-048FA9427DD8}"/>
                    </a:ext>
                  </a:extLst>
                </p:cNvPr>
                <p:cNvGrpSpPr/>
                <p:nvPr/>
              </p:nvGrpSpPr>
              <p:grpSpPr>
                <a:xfrm>
                  <a:off x="6929753" y="2018298"/>
                  <a:ext cx="1596981" cy="1085282"/>
                  <a:chOff x="6929753" y="2018298"/>
                  <a:chExt cx="1596981" cy="1085282"/>
                </a:xfrm>
              </p:grpSpPr>
              <p:cxnSp>
                <p:nvCxnSpPr>
                  <p:cNvPr id="35" name="직선 연결선 34">
                    <a:extLst>
                      <a:ext uri="{FF2B5EF4-FFF2-40B4-BE49-F238E27FC236}">
                        <a16:creationId xmlns:a16="http://schemas.microsoft.com/office/drawing/2014/main" id="{D05F58B8-85D8-A965-143E-51444DEF9E59}"/>
                      </a:ext>
                    </a:extLst>
                  </p:cNvPr>
                  <p:cNvCxnSpPr/>
                  <p:nvPr/>
                </p:nvCxnSpPr>
                <p:spPr>
                  <a:xfrm>
                    <a:off x="6929753" y="2193433"/>
                    <a:ext cx="1596981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직선 연결선 35">
                    <a:extLst>
                      <a:ext uri="{FF2B5EF4-FFF2-40B4-BE49-F238E27FC236}">
                        <a16:creationId xmlns:a16="http://schemas.microsoft.com/office/drawing/2014/main" id="{6E8ED8B0-F6C9-A16E-B78B-851C22230874}"/>
                      </a:ext>
                    </a:extLst>
                  </p:cNvPr>
                  <p:cNvCxnSpPr/>
                  <p:nvPr/>
                </p:nvCxnSpPr>
                <p:spPr>
                  <a:xfrm>
                    <a:off x="6929753" y="2944701"/>
                    <a:ext cx="1596981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직선 연결선 36">
                    <a:extLst>
                      <a:ext uri="{FF2B5EF4-FFF2-40B4-BE49-F238E27FC236}">
                        <a16:creationId xmlns:a16="http://schemas.microsoft.com/office/drawing/2014/main" id="{4054299F-28F3-8D2B-7033-3B05E4B795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419178" y="2193433"/>
                    <a:ext cx="618129" cy="751268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직선 연결선 37">
                    <a:extLst>
                      <a:ext uri="{FF2B5EF4-FFF2-40B4-BE49-F238E27FC236}">
                        <a16:creationId xmlns:a16="http://schemas.microsoft.com/office/drawing/2014/main" id="{522723A7-A9F1-0540-D9F8-55ABAF53DD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419177" y="2193433"/>
                    <a:ext cx="618129" cy="751268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9" name="타원 38">
                    <a:extLst>
                      <a:ext uri="{FF2B5EF4-FFF2-40B4-BE49-F238E27FC236}">
                        <a16:creationId xmlns:a16="http://schemas.microsoft.com/office/drawing/2014/main" id="{2BC88578-F135-A4AD-3E9A-70F3CA622E02}"/>
                      </a:ext>
                    </a:extLst>
                  </p:cNvPr>
                  <p:cNvSpPr/>
                  <p:nvPr/>
                </p:nvSpPr>
                <p:spPr>
                  <a:xfrm>
                    <a:off x="7876062" y="2018298"/>
                    <a:ext cx="322487" cy="322487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+</a:t>
                    </a:r>
                    <a:endPara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0" name="타원 39">
                    <a:extLst>
                      <a:ext uri="{FF2B5EF4-FFF2-40B4-BE49-F238E27FC236}">
                        <a16:creationId xmlns:a16="http://schemas.microsoft.com/office/drawing/2014/main" id="{9AD36D2E-C01B-0783-819A-5734C31679B4}"/>
                      </a:ext>
                    </a:extLst>
                  </p:cNvPr>
                  <p:cNvSpPr/>
                  <p:nvPr/>
                </p:nvSpPr>
                <p:spPr>
                  <a:xfrm>
                    <a:off x="7885833" y="2781093"/>
                    <a:ext cx="322487" cy="322487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-</a:t>
                    </a:r>
                    <a:endPara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E3EEE39-EE05-1573-AD23-0145072972D6}"/>
                    </a:ext>
                  </a:extLst>
                </p:cNvPr>
                <p:cNvSpPr txBox="1"/>
                <p:nvPr/>
              </p:nvSpPr>
              <p:spPr>
                <a:xfrm>
                  <a:off x="6548767" y="2008767"/>
                  <a:ext cx="61334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x1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A3B18B4-3EBA-4745-D746-A5834968C297}"/>
                    </a:ext>
                  </a:extLst>
                </p:cNvPr>
                <p:cNvSpPr txBox="1"/>
                <p:nvPr/>
              </p:nvSpPr>
              <p:spPr>
                <a:xfrm>
                  <a:off x="6431996" y="2757670"/>
                  <a:ext cx="61334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x14</a:t>
                  </a:r>
                </a:p>
              </p:txBody>
            </p:sp>
          </p:grp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E2C2E532-5DC3-0DBE-D679-4A95D435420E}"/>
                  </a:ext>
                </a:extLst>
              </p:cNvPr>
              <p:cNvGrpSpPr/>
              <p:nvPr/>
            </p:nvGrpSpPr>
            <p:grpSpPr>
              <a:xfrm>
                <a:off x="6286524" y="5015939"/>
                <a:ext cx="1983901" cy="1118235"/>
                <a:chOff x="6542833" y="2008767"/>
                <a:chExt cx="1983901" cy="1118235"/>
              </a:xfrm>
            </p:grpSpPr>
            <p:grpSp>
              <p:nvGrpSpPr>
                <p:cNvPr id="42" name="그룹 41">
                  <a:extLst>
                    <a:ext uri="{FF2B5EF4-FFF2-40B4-BE49-F238E27FC236}">
                      <a16:creationId xmlns:a16="http://schemas.microsoft.com/office/drawing/2014/main" id="{40A19CFE-19AB-AC99-2A7E-DC8AFC1A8804}"/>
                    </a:ext>
                  </a:extLst>
                </p:cNvPr>
                <p:cNvGrpSpPr/>
                <p:nvPr/>
              </p:nvGrpSpPr>
              <p:grpSpPr>
                <a:xfrm>
                  <a:off x="6929753" y="2018298"/>
                  <a:ext cx="1596981" cy="1085282"/>
                  <a:chOff x="6929753" y="2018298"/>
                  <a:chExt cx="1596981" cy="1085282"/>
                </a:xfrm>
              </p:grpSpPr>
              <p:cxnSp>
                <p:nvCxnSpPr>
                  <p:cNvPr id="45" name="직선 연결선 44">
                    <a:extLst>
                      <a:ext uri="{FF2B5EF4-FFF2-40B4-BE49-F238E27FC236}">
                        <a16:creationId xmlns:a16="http://schemas.microsoft.com/office/drawing/2014/main" id="{156BC680-B4F0-29C6-C553-D01E8F96AC75}"/>
                      </a:ext>
                    </a:extLst>
                  </p:cNvPr>
                  <p:cNvCxnSpPr/>
                  <p:nvPr/>
                </p:nvCxnSpPr>
                <p:spPr>
                  <a:xfrm>
                    <a:off x="6929753" y="2193433"/>
                    <a:ext cx="1596981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직선 연결선 45">
                    <a:extLst>
                      <a:ext uri="{FF2B5EF4-FFF2-40B4-BE49-F238E27FC236}">
                        <a16:creationId xmlns:a16="http://schemas.microsoft.com/office/drawing/2014/main" id="{212EC6BE-66F4-FA74-20D0-84BF2CA45B27}"/>
                      </a:ext>
                    </a:extLst>
                  </p:cNvPr>
                  <p:cNvCxnSpPr/>
                  <p:nvPr/>
                </p:nvCxnSpPr>
                <p:spPr>
                  <a:xfrm>
                    <a:off x="6929753" y="2944701"/>
                    <a:ext cx="1596981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직선 연결선 46">
                    <a:extLst>
                      <a:ext uri="{FF2B5EF4-FFF2-40B4-BE49-F238E27FC236}">
                        <a16:creationId xmlns:a16="http://schemas.microsoft.com/office/drawing/2014/main" id="{2C9492E2-7661-C3BD-CE76-39F538D543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419178" y="2193433"/>
                    <a:ext cx="618129" cy="751268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22D09448-ADAE-A1FB-BF26-C6DD19E922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419177" y="2193433"/>
                    <a:ext cx="618129" cy="751268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" name="타원 48">
                    <a:extLst>
                      <a:ext uri="{FF2B5EF4-FFF2-40B4-BE49-F238E27FC236}">
                        <a16:creationId xmlns:a16="http://schemas.microsoft.com/office/drawing/2014/main" id="{73D95B68-D760-D67B-04EA-165514138709}"/>
                      </a:ext>
                    </a:extLst>
                  </p:cNvPr>
                  <p:cNvSpPr/>
                  <p:nvPr/>
                </p:nvSpPr>
                <p:spPr>
                  <a:xfrm>
                    <a:off x="7876062" y="2018298"/>
                    <a:ext cx="322487" cy="322487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+</a:t>
                    </a:r>
                    <a:endPara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50" name="타원 49">
                    <a:extLst>
                      <a:ext uri="{FF2B5EF4-FFF2-40B4-BE49-F238E27FC236}">
                        <a16:creationId xmlns:a16="http://schemas.microsoft.com/office/drawing/2014/main" id="{88EDCB35-F7F8-D6DF-2B37-82C8C9C73C03}"/>
                      </a:ext>
                    </a:extLst>
                  </p:cNvPr>
                  <p:cNvSpPr/>
                  <p:nvPr/>
                </p:nvSpPr>
                <p:spPr>
                  <a:xfrm>
                    <a:off x="7885833" y="2781093"/>
                    <a:ext cx="322487" cy="322487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-</a:t>
                    </a:r>
                    <a:endPara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2CFB2BB-6AE8-C6A7-E18C-F592EB5835AF}"/>
                    </a:ext>
                  </a:extLst>
                </p:cNvPr>
                <p:cNvSpPr txBox="1"/>
                <p:nvPr/>
              </p:nvSpPr>
              <p:spPr>
                <a:xfrm>
                  <a:off x="6548767" y="2008767"/>
                  <a:ext cx="61334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x7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025F23D-EF7C-52F4-26B3-FA28EEFDB4C9}"/>
                    </a:ext>
                  </a:extLst>
                </p:cNvPr>
                <p:cNvSpPr txBox="1"/>
                <p:nvPr/>
              </p:nvSpPr>
              <p:spPr>
                <a:xfrm>
                  <a:off x="6542833" y="2757670"/>
                  <a:ext cx="61334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x8</a:t>
                  </a:r>
                </a:p>
              </p:txBody>
            </p: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D6D8CED-C986-6F45-5711-E23509E0C216}"/>
                </a:ext>
              </a:extLst>
            </p:cNvPr>
            <p:cNvSpPr txBox="1"/>
            <p:nvPr/>
          </p:nvSpPr>
          <p:spPr>
            <a:xfrm>
              <a:off x="6192243" y="1605966"/>
              <a:ext cx="837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s2_0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A7D8309-0180-55B2-611D-5A9B2B0F38CD}"/>
                </a:ext>
              </a:extLst>
            </p:cNvPr>
            <p:cNvSpPr txBox="1"/>
            <p:nvPr/>
          </p:nvSpPr>
          <p:spPr>
            <a:xfrm>
              <a:off x="6192242" y="2358770"/>
              <a:ext cx="837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d2_0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E6DC473-FC1F-C333-0AF4-AAAFDEC0593E}"/>
                </a:ext>
              </a:extLst>
            </p:cNvPr>
            <p:cNvSpPr txBox="1"/>
            <p:nvPr/>
          </p:nvSpPr>
          <p:spPr>
            <a:xfrm>
              <a:off x="6192243" y="2953645"/>
              <a:ext cx="837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s2_1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479D0FC-439D-DFED-FB70-C6934D8F93C4}"/>
                </a:ext>
              </a:extLst>
            </p:cNvPr>
            <p:cNvSpPr txBox="1"/>
            <p:nvPr/>
          </p:nvSpPr>
          <p:spPr>
            <a:xfrm>
              <a:off x="6192242" y="3706449"/>
              <a:ext cx="837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d2_1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FDDF5B8-96DB-1076-AD66-FD8167672156}"/>
                </a:ext>
              </a:extLst>
            </p:cNvPr>
            <p:cNvSpPr txBox="1"/>
            <p:nvPr/>
          </p:nvSpPr>
          <p:spPr>
            <a:xfrm>
              <a:off x="6207590" y="5016325"/>
              <a:ext cx="837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s2_7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F97DFC8-B7A4-EABD-7F30-52AB2C882A9A}"/>
                </a:ext>
              </a:extLst>
            </p:cNvPr>
            <p:cNvSpPr txBox="1"/>
            <p:nvPr/>
          </p:nvSpPr>
          <p:spPr>
            <a:xfrm>
              <a:off x="6207589" y="5769129"/>
              <a:ext cx="837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d2_7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4DB1D22E-F015-EBF8-1D0D-0B57ECDD528F}"/>
              </a:ext>
            </a:extLst>
          </p:cNvPr>
          <p:cNvGrpSpPr/>
          <p:nvPr/>
        </p:nvGrpSpPr>
        <p:grpSpPr>
          <a:xfrm>
            <a:off x="4648689" y="2251868"/>
            <a:ext cx="3007100" cy="3256107"/>
            <a:chOff x="7855527" y="2135958"/>
            <a:chExt cx="3007100" cy="3256107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DEF0234B-3B38-6367-1B41-6554BB58B92F}"/>
                </a:ext>
              </a:extLst>
            </p:cNvPr>
            <p:cNvGrpSpPr/>
            <p:nvPr/>
          </p:nvGrpSpPr>
          <p:grpSpPr>
            <a:xfrm>
              <a:off x="7855527" y="2167830"/>
              <a:ext cx="2222917" cy="3224235"/>
              <a:chOff x="7855527" y="2167830"/>
              <a:chExt cx="2222917" cy="3224235"/>
            </a:xfrm>
          </p:grpSpPr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95C7E99C-7428-2519-B165-85A7B99AD635}"/>
                  </a:ext>
                </a:extLst>
              </p:cNvPr>
              <p:cNvGrpSpPr/>
              <p:nvPr/>
            </p:nvGrpSpPr>
            <p:grpSpPr>
              <a:xfrm>
                <a:off x="7855527" y="2167830"/>
                <a:ext cx="2202134" cy="1118235"/>
                <a:chOff x="6324600" y="2008767"/>
                <a:chExt cx="2202134" cy="1118235"/>
              </a:xfrm>
            </p:grpSpPr>
            <p:grpSp>
              <p:nvGrpSpPr>
                <p:cNvPr id="22" name="그룹 21">
                  <a:extLst>
                    <a:ext uri="{FF2B5EF4-FFF2-40B4-BE49-F238E27FC236}">
                      <a16:creationId xmlns:a16="http://schemas.microsoft.com/office/drawing/2014/main" id="{AF19A6C5-FECB-E5A6-F6CC-D50F0CB0EB9C}"/>
                    </a:ext>
                  </a:extLst>
                </p:cNvPr>
                <p:cNvGrpSpPr/>
                <p:nvPr/>
              </p:nvGrpSpPr>
              <p:grpSpPr>
                <a:xfrm>
                  <a:off x="6929753" y="2018298"/>
                  <a:ext cx="1596981" cy="1085282"/>
                  <a:chOff x="6929753" y="2018298"/>
                  <a:chExt cx="1596981" cy="1085282"/>
                </a:xfrm>
              </p:grpSpPr>
              <p:cxnSp>
                <p:nvCxnSpPr>
                  <p:cNvPr id="25" name="직선 연결선 24">
                    <a:extLst>
                      <a:ext uri="{FF2B5EF4-FFF2-40B4-BE49-F238E27FC236}">
                        <a16:creationId xmlns:a16="http://schemas.microsoft.com/office/drawing/2014/main" id="{CC0872C4-4E74-6783-BC9C-5E8FC2AAECF2}"/>
                      </a:ext>
                    </a:extLst>
                  </p:cNvPr>
                  <p:cNvCxnSpPr/>
                  <p:nvPr/>
                </p:nvCxnSpPr>
                <p:spPr>
                  <a:xfrm>
                    <a:off x="6929753" y="2193433"/>
                    <a:ext cx="1596981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직선 연결선 25">
                    <a:extLst>
                      <a:ext uri="{FF2B5EF4-FFF2-40B4-BE49-F238E27FC236}">
                        <a16:creationId xmlns:a16="http://schemas.microsoft.com/office/drawing/2014/main" id="{087625D5-CECD-1003-0B82-832C2203CABD}"/>
                      </a:ext>
                    </a:extLst>
                  </p:cNvPr>
                  <p:cNvCxnSpPr/>
                  <p:nvPr/>
                </p:nvCxnSpPr>
                <p:spPr>
                  <a:xfrm>
                    <a:off x="6929753" y="2944701"/>
                    <a:ext cx="1596981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직선 연결선 26">
                    <a:extLst>
                      <a:ext uri="{FF2B5EF4-FFF2-40B4-BE49-F238E27FC236}">
                        <a16:creationId xmlns:a16="http://schemas.microsoft.com/office/drawing/2014/main" id="{8B529A26-864A-4C81-690F-95225274CB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419178" y="2193433"/>
                    <a:ext cx="618129" cy="751268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직선 연결선 27">
                    <a:extLst>
                      <a:ext uri="{FF2B5EF4-FFF2-40B4-BE49-F238E27FC236}">
                        <a16:creationId xmlns:a16="http://schemas.microsoft.com/office/drawing/2014/main" id="{DB1E1D0E-895F-AAAC-BD4A-1BB504BD4B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419177" y="2193433"/>
                    <a:ext cx="618129" cy="751268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C0C89C8E-5DFC-FF2A-415B-3BDB70149592}"/>
                      </a:ext>
                    </a:extLst>
                  </p:cNvPr>
                  <p:cNvSpPr/>
                  <p:nvPr/>
                </p:nvSpPr>
                <p:spPr>
                  <a:xfrm>
                    <a:off x="7876062" y="2018298"/>
                    <a:ext cx="322487" cy="322487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+</a:t>
                    </a:r>
                    <a:endPara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30" name="타원 29">
                    <a:extLst>
                      <a:ext uri="{FF2B5EF4-FFF2-40B4-BE49-F238E27FC236}">
                        <a16:creationId xmlns:a16="http://schemas.microsoft.com/office/drawing/2014/main" id="{58033D6F-3E2C-8476-5BF2-402AEEBCDEFA}"/>
                      </a:ext>
                    </a:extLst>
                  </p:cNvPr>
                  <p:cNvSpPr/>
                  <p:nvPr/>
                </p:nvSpPr>
                <p:spPr>
                  <a:xfrm>
                    <a:off x="7885833" y="2781093"/>
                    <a:ext cx="322487" cy="322487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-</a:t>
                    </a:r>
                    <a:endPara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600D5E0-4BD2-7CFA-0F21-DC02618F6CB5}"/>
                    </a:ext>
                  </a:extLst>
                </p:cNvPr>
                <p:cNvSpPr txBox="1"/>
                <p:nvPr/>
              </p:nvSpPr>
              <p:spPr>
                <a:xfrm>
                  <a:off x="6324600" y="2008767"/>
                  <a:ext cx="8375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s2_0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E61B7CA-6FD3-4725-6FC7-77DFDBC5B263}"/>
                    </a:ext>
                  </a:extLst>
                </p:cNvPr>
                <p:cNvSpPr txBox="1"/>
                <p:nvPr/>
              </p:nvSpPr>
              <p:spPr>
                <a:xfrm>
                  <a:off x="6345383" y="2757670"/>
                  <a:ext cx="6722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s2_7</a:t>
                  </a:r>
                </a:p>
              </p:txBody>
            </p: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1B99149F-DAFA-50EE-2BFA-8B2196AACBB8}"/>
                  </a:ext>
                </a:extLst>
              </p:cNvPr>
              <p:cNvGrpSpPr/>
              <p:nvPr/>
            </p:nvGrpSpPr>
            <p:grpSpPr>
              <a:xfrm>
                <a:off x="7876310" y="4273830"/>
                <a:ext cx="2202134" cy="1118235"/>
                <a:chOff x="6324600" y="2008767"/>
                <a:chExt cx="2202134" cy="1118235"/>
              </a:xfrm>
            </p:grpSpPr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8F374B7F-AABD-B461-62F6-8C782256E258}"/>
                    </a:ext>
                  </a:extLst>
                </p:cNvPr>
                <p:cNvGrpSpPr/>
                <p:nvPr/>
              </p:nvGrpSpPr>
              <p:grpSpPr>
                <a:xfrm>
                  <a:off x="6929753" y="2018298"/>
                  <a:ext cx="1596981" cy="1085282"/>
                  <a:chOff x="6929753" y="2018298"/>
                  <a:chExt cx="1596981" cy="1085282"/>
                </a:xfrm>
              </p:grpSpPr>
              <p:cxnSp>
                <p:nvCxnSpPr>
                  <p:cNvPr id="56" name="직선 연결선 55">
                    <a:extLst>
                      <a:ext uri="{FF2B5EF4-FFF2-40B4-BE49-F238E27FC236}">
                        <a16:creationId xmlns:a16="http://schemas.microsoft.com/office/drawing/2014/main" id="{CE1DEB3D-F86A-054D-B448-B374A0577417}"/>
                      </a:ext>
                    </a:extLst>
                  </p:cNvPr>
                  <p:cNvCxnSpPr/>
                  <p:nvPr/>
                </p:nvCxnSpPr>
                <p:spPr>
                  <a:xfrm>
                    <a:off x="6929753" y="2193433"/>
                    <a:ext cx="1596981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직선 연결선 56">
                    <a:extLst>
                      <a:ext uri="{FF2B5EF4-FFF2-40B4-BE49-F238E27FC236}">
                        <a16:creationId xmlns:a16="http://schemas.microsoft.com/office/drawing/2014/main" id="{5576B484-BD25-1CAA-B6F7-E8536E228667}"/>
                      </a:ext>
                    </a:extLst>
                  </p:cNvPr>
                  <p:cNvCxnSpPr/>
                  <p:nvPr/>
                </p:nvCxnSpPr>
                <p:spPr>
                  <a:xfrm>
                    <a:off x="6929753" y="2944701"/>
                    <a:ext cx="1596981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직선 연결선 57">
                    <a:extLst>
                      <a:ext uri="{FF2B5EF4-FFF2-40B4-BE49-F238E27FC236}">
                        <a16:creationId xmlns:a16="http://schemas.microsoft.com/office/drawing/2014/main" id="{E4615C76-A154-53B9-C2F6-E726FA856C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419178" y="2193433"/>
                    <a:ext cx="618129" cy="751268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직선 연결선 58">
                    <a:extLst>
                      <a:ext uri="{FF2B5EF4-FFF2-40B4-BE49-F238E27FC236}">
                        <a16:creationId xmlns:a16="http://schemas.microsoft.com/office/drawing/2014/main" id="{B73986BF-3459-EC46-A914-0724F13A63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419177" y="2193433"/>
                    <a:ext cx="618129" cy="751268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0" name="타원 59">
                    <a:extLst>
                      <a:ext uri="{FF2B5EF4-FFF2-40B4-BE49-F238E27FC236}">
                        <a16:creationId xmlns:a16="http://schemas.microsoft.com/office/drawing/2014/main" id="{7657E9A2-3B7A-2FFD-B544-05130283C1B4}"/>
                      </a:ext>
                    </a:extLst>
                  </p:cNvPr>
                  <p:cNvSpPr/>
                  <p:nvPr/>
                </p:nvSpPr>
                <p:spPr>
                  <a:xfrm>
                    <a:off x="7876062" y="2018298"/>
                    <a:ext cx="322487" cy="322487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+</a:t>
                    </a:r>
                    <a:endPara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61" name="타원 60">
                    <a:extLst>
                      <a:ext uri="{FF2B5EF4-FFF2-40B4-BE49-F238E27FC236}">
                        <a16:creationId xmlns:a16="http://schemas.microsoft.com/office/drawing/2014/main" id="{5FE8C6E4-CFA2-7CC1-97DA-605379B8F9EE}"/>
                      </a:ext>
                    </a:extLst>
                  </p:cNvPr>
                  <p:cNvSpPr/>
                  <p:nvPr/>
                </p:nvSpPr>
                <p:spPr>
                  <a:xfrm>
                    <a:off x="7885833" y="2781093"/>
                    <a:ext cx="322487" cy="322487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-</a:t>
                    </a:r>
                    <a:endParaRPr lang="ko-KR" altLang="en-US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A24FB04-5869-AB87-5E14-E4A31FBA7352}"/>
                    </a:ext>
                  </a:extLst>
                </p:cNvPr>
                <p:cNvSpPr txBox="1"/>
                <p:nvPr/>
              </p:nvSpPr>
              <p:spPr>
                <a:xfrm>
                  <a:off x="6324600" y="2008767"/>
                  <a:ext cx="8375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s2_3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399CBCB5-E802-E172-C2CB-CB5585830625}"/>
                    </a:ext>
                  </a:extLst>
                </p:cNvPr>
                <p:cNvSpPr txBox="1"/>
                <p:nvPr/>
              </p:nvSpPr>
              <p:spPr>
                <a:xfrm>
                  <a:off x="6345383" y="2757670"/>
                  <a:ext cx="6722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s2_4</a:t>
                  </a:r>
                </a:p>
              </p:txBody>
            </p:sp>
          </p:grp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C1A7993-1584-BE82-4FBE-6421489FA472}"/>
                  </a:ext>
                </a:extLst>
              </p:cNvPr>
              <p:cNvSpPr txBox="1"/>
              <p:nvPr/>
            </p:nvSpPr>
            <p:spPr>
              <a:xfrm rot="5400000">
                <a:off x="8842028" y="3420796"/>
                <a:ext cx="2537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…</a:t>
                </a:r>
              </a:p>
              <a:p>
                <a:endParaRPr lang="ko-KR" altLang="en-US" dirty="0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446CF6F-C648-67C8-53D4-8B94D7ECF4FE}"/>
                </a:ext>
              </a:extLst>
            </p:cNvPr>
            <p:cNvSpPr txBox="1"/>
            <p:nvPr/>
          </p:nvSpPr>
          <p:spPr>
            <a:xfrm>
              <a:off x="10025118" y="2135958"/>
              <a:ext cx="837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s4_0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37E2BC7-E147-67A7-72BD-EFFC7A985F61}"/>
                </a:ext>
              </a:extLst>
            </p:cNvPr>
            <p:cNvSpPr txBox="1"/>
            <p:nvPr/>
          </p:nvSpPr>
          <p:spPr>
            <a:xfrm>
              <a:off x="10025117" y="2888762"/>
              <a:ext cx="837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d4_0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79965E-509D-D247-2E82-250CCF8C4D80}"/>
                </a:ext>
              </a:extLst>
            </p:cNvPr>
            <p:cNvSpPr txBox="1"/>
            <p:nvPr/>
          </p:nvSpPr>
          <p:spPr>
            <a:xfrm>
              <a:off x="10025118" y="4246507"/>
              <a:ext cx="837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s4_3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4609AD0-37F9-E732-4740-594783D8449B}"/>
                </a:ext>
              </a:extLst>
            </p:cNvPr>
            <p:cNvSpPr txBox="1"/>
            <p:nvPr/>
          </p:nvSpPr>
          <p:spPr>
            <a:xfrm>
              <a:off x="10025117" y="4999311"/>
              <a:ext cx="837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d4_3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21BAA7E-B5F5-20E1-D6B4-A437F9280C01}"/>
              </a:ext>
            </a:extLst>
          </p:cNvPr>
          <p:cNvSpPr txBox="1"/>
          <p:nvPr/>
        </p:nvSpPr>
        <p:spPr>
          <a:xfrm>
            <a:off x="8184794" y="3515261"/>
            <a:ext cx="31165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Reuse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computation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results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multiple times!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7" name="그림 16" descr="Symbol">
            <a:extLst>
              <a:ext uri="{FF2B5EF4-FFF2-40B4-BE49-F238E27FC236}">
                <a16:creationId xmlns:a16="http://schemas.microsoft.com/office/drawing/2014/main" id="{6942091C-0EB0-B9C9-3948-696213A85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0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C7393-CB8C-8A9E-6F80-A75EB39F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>
            <a:extLst>
              <a:ext uri="{FF2B5EF4-FFF2-40B4-BE49-F238E27FC236}">
                <a16:creationId xmlns:a16="http://schemas.microsoft.com/office/drawing/2014/main" id="{86A5D638-0BBD-2FF2-40DD-CA37E3E68379}"/>
              </a:ext>
            </a:extLst>
          </p:cNvPr>
          <p:cNvSpPr/>
          <p:nvPr/>
        </p:nvSpPr>
        <p:spPr>
          <a:xfrm>
            <a:off x="3461041" y="3239649"/>
            <a:ext cx="388189" cy="1916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09905AE-037F-07E3-E885-B1CF83F2569C}"/>
              </a:ext>
            </a:extLst>
          </p:cNvPr>
          <p:cNvSpPr/>
          <p:nvPr/>
        </p:nvSpPr>
        <p:spPr>
          <a:xfrm>
            <a:off x="3461041" y="3519512"/>
            <a:ext cx="388189" cy="1916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80D238F-FF7F-8ADE-25D7-FFD8E0C88FE1}"/>
              </a:ext>
            </a:extLst>
          </p:cNvPr>
          <p:cNvSpPr/>
          <p:nvPr/>
        </p:nvSpPr>
        <p:spPr>
          <a:xfrm>
            <a:off x="3336636" y="3793126"/>
            <a:ext cx="388189" cy="1916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CA99BE3-E3BB-0296-9117-8E4E637BFEFF}"/>
              </a:ext>
            </a:extLst>
          </p:cNvPr>
          <p:cNvSpPr/>
          <p:nvPr/>
        </p:nvSpPr>
        <p:spPr>
          <a:xfrm>
            <a:off x="3503047" y="4064825"/>
            <a:ext cx="388189" cy="1916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741E65F8-751B-5F74-4062-2FD7A5DFE772}"/>
              </a:ext>
            </a:extLst>
          </p:cNvPr>
          <p:cNvSpPr txBox="1">
            <a:spLocks/>
          </p:cNvSpPr>
          <p:nvPr/>
        </p:nvSpPr>
        <p:spPr>
          <a:xfrm>
            <a:off x="290671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Computation Sharing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C30EE5D-FBC0-A46C-B900-1622713F1663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BB0263E4-4D5B-ECD4-7104-5BE95B5D8DEF}"/>
              </a:ext>
            </a:extLst>
          </p:cNvPr>
          <p:cNvGrpSpPr/>
          <p:nvPr/>
        </p:nvGrpSpPr>
        <p:grpSpPr>
          <a:xfrm>
            <a:off x="6748860" y="1775663"/>
            <a:ext cx="3675299" cy="4247317"/>
            <a:chOff x="6748860" y="1775663"/>
            <a:chExt cx="3675299" cy="4247317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5BF83BB8-D79E-4DCF-532B-2493F1CFB0FF}"/>
                </a:ext>
              </a:extLst>
            </p:cNvPr>
            <p:cNvSpPr/>
            <p:nvPr/>
          </p:nvSpPr>
          <p:spPr>
            <a:xfrm>
              <a:off x="6930760" y="4576925"/>
              <a:ext cx="1787504" cy="28316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CF9D8183-202F-4719-067A-723F155D448F}"/>
                </a:ext>
              </a:extLst>
            </p:cNvPr>
            <p:cNvSpPr/>
            <p:nvPr/>
          </p:nvSpPr>
          <p:spPr>
            <a:xfrm>
              <a:off x="6936659" y="2936886"/>
              <a:ext cx="1787504" cy="28316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BD2F181D-551D-D72E-DBFE-87174E51A372}"/>
                </a:ext>
              </a:extLst>
            </p:cNvPr>
            <p:cNvSpPr/>
            <p:nvPr/>
          </p:nvSpPr>
          <p:spPr>
            <a:xfrm>
              <a:off x="8157826" y="2394150"/>
              <a:ext cx="1787504" cy="28316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5F3895C-5E97-0C8C-9693-8DF1AC0114B2}"/>
                </a:ext>
              </a:extLst>
            </p:cNvPr>
            <p:cNvSpPr/>
            <p:nvPr/>
          </p:nvSpPr>
          <p:spPr>
            <a:xfrm>
              <a:off x="8141110" y="1834699"/>
              <a:ext cx="1787504" cy="28316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8B52165-7B83-1049-7CAF-6C99ED3B701E}"/>
                    </a:ext>
                  </a:extLst>
                </p:cNvPr>
                <p:cNvSpPr txBox="1"/>
                <p:nvPr/>
              </p:nvSpPr>
              <p:spPr>
                <a:xfrm>
                  <a:off x="6748860" y="1775663"/>
                  <a:ext cx="3675299" cy="42473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≪4 −(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≪2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ko-KR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 dirty="0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≪4 −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≪2 −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endParaRPr lang="en-US" altLang="ko-KR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b="0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≪4 −(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≪2+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ko-KR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≪3+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≪1</m:t>
                      </m:r>
                    </m:oMath>
                  </a14:m>
                  <a:endParaRPr lang="en-US" altLang="ko-KR" b="0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≪2+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≪1</m:t>
                      </m:r>
                    </m:oMath>
                  </a14:m>
                  <a:endParaRPr lang="en-US" altLang="ko-KR" dirty="0"/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≪3+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endParaRPr lang="en-US" altLang="ko-KR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≪3+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endParaRPr lang="en-US" altLang="ko-KR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≪3</m:t>
                      </m:r>
                    </m:oMath>
                  </a14:m>
                  <a:endParaRPr lang="en-US" altLang="ko-KR" b="0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≪3−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endParaRPr lang="en-US" altLang="ko-KR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≪3−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≪1</m:t>
                      </m:r>
                    </m:oMath>
                  </a14:m>
                  <a:endParaRPr lang="en-US" altLang="ko-KR" b="0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≪2+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ko-KR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≪2</m:t>
                      </m:r>
                    </m:oMath>
                  </a14:m>
                  <a:endParaRPr lang="en-US" altLang="ko-KR" b="0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≪2−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endParaRPr lang="en-US" altLang="ko-KR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≪1</m:t>
                      </m:r>
                    </m:oMath>
                  </a14:m>
                  <a:endParaRPr lang="en-US" altLang="ko-KR" b="0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endParaRPr lang="en-US" altLang="ko-KR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8B52165-7B83-1049-7CAF-6C99ED3B7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8860" y="1775663"/>
                  <a:ext cx="3675299" cy="424731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096DE5-0CD7-53BD-EF98-CBE13D187336}"/>
                  </a:ext>
                </a:extLst>
              </p:cNvPr>
              <p:cNvSpPr txBox="1"/>
              <p:nvPr/>
            </p:nvSpPr>
            <p:spPr>
              <a:xfrm>
                <a:off x="1942641" y="3141291"/>
                <a:ext cx="2490451" cy="1201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=0.10</m:t>
                      </m:r>
                      <m:acc>
                        <m:accPr>
                          <m:chr m:val="̅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=0.10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=0.01010</m:t>
                      </m:r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=0.00101</m:t>
                      </m:r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096DE5-0CD7-53BD-EF98-CBE13D187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641" y="3141291"/>
                <a:ext cx="2490451" cy="12014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" name="그림 83" descr="Symbol">
            <a:extLst>
              <a:ext uri="{FF2B5EF4-FFF2-40B4-BE49-F238E27FC236}">
                <a16:creationId xmlns:a16="http://schemas.microsoft.com/office/drawing/2014/main" id="{E4FAA4CD-ACC8-4204-ECB3-4B87700ED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50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E39CC-5E20-543B-43DB-B684AB9E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DC76A24-22E0-135C-D61F-E1E91F8B1A33}"/>
              </a:ext>
            </a:extLst>
          </p:cNvPr>
          <p:cNvSpPr txBox="1">
            <a:spLocks/>
          </p:cNvSpPr>
          <p:nvPr/>
        </p:nvSpPr>
        <p:spPr>
          <a:xfrm>
            <a:off x="290671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Synthesis-aware RTL Optimization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E814455-2CF6-2A75-D106-5D8B9C483E85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ECE7854-7C6A-118B-3C6E-67CD0FB4657C}"/>
              </a:ext>
            </a:extLst>
          </p:cNvPr>
          <p:cNvSpPr txBox="1"/>
          <p:nvPr/>
        </p:nvSpPr>
        <p:spPr>
          <a:xfrm>
            <a:off x="290671" y="1446300"/>
            <a:ext cx="1115564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Guiding Design Compiler to: </a:t>
            </a:r>
          </a:p>
          <a:p>
            <a:r>
              <a:rPr lang="en-US" altLang="ko-KR" sz="2000" b="1" dirty="0"/>
              <a:t>1. Reduce the Combinational Logic Area in the Transposed Memory Mo</a:t>
            </a:r>
            <a:r>
              <a:rPr lang="en-US" altLang="ko-KR" b="1" dirty="0"/>
              <a:t>dule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2000" b="1" dirty="0"/>
          </a:p>
        </p:txBody>
      </p:sp>
      <p:pic>
        <p:nvPicPr>
          <p:cNvPr id="80" name="그림 79" descr="The image depicts a snippet of VHDL code illustrating a conditional logic for data assignment to a two-dimensional array based on index and counter values, with support for row-wise and column-wise writing.&#10;&#10;AI 생성 콘텐츠는 정확하지 않을 수 있습니다.">
            <a:extLst>
              <a:ext uri="{FF2B5EF4-FFF2-40B4-BE49-F238E27FC236}">
                <a16:creationId xmlns:a16="http://schemas.microsoft.com/office/drawing/2014/main" id="{E1E8941C-367A-ACE2-A584-599A7041F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55" y="2170389"/>
            <a:ext cx="4095624" cy="1749109"/>
          </a:xfrm>
          <a:prstGeom prst="rect">
            <a:avLst/>
          </a:prstGeom>
        </p:spPr>
      </p:pic>
      <p:pic>
        <p:nvPicPr>
          <p:cNvPr id="82" name="그림 81" descr="The provided text appears to be a snippet of code from a hardware description language, likely Verilog or VHDL, which is used for describing digital circuits. It describes a conditional statement for writing data to an array, which seems to be part of a larger digital logic or hardware design. The condition checks the state of the 'counter' and 'index' variables, and based on their values, it selects whether to perform a row-wise or column-wise write operation on an array.&#10;&#10;AI 생성 콘텐츠는 정확하지 않을 수 있습니다.">
            <a:extLst>
              <a:ext uri="{FF2B5EF4-FFF2-40B4-BE49-F238E27FC236}">
                <a16:creationId xmlns:a16="http://schemas.microsoft.com/office/drawing/2014/main" id="{4E67E108-D317-802D-84BD-2EAF0FDB3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719" y="2178561"/>
            <a:ext cx="3527468" cy="1753881"/>
          </a:xfrm>
          <a:prstGeom prst="rect">
            <a:avLst/>
          </a:prstGeom>
        </p:spPr>
      </p:pic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E973158-B3EC-6DD1-C635-477252A54713}"/>
              </a:ext>
            </a:extLst>
          </p:cNvPr>
          <p:cNvCxnSpPr/>
          <p:nvPr/>
        </p:nvCxnSpPr>
        <p:spPr>
          <a:xfrm>
            <a:off x="5688305" y="3149487"/>
            <a:ext cx="8153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7ECC8CE9-E0C1-12E5-E1D7-AFD0B94D8D02}"/>
              </a:ext>
            </a:extLst>
          </p:cNvPr>
          <p:cNvGrpSpPr/>
          <p:nvPr/>
        </p:nvGrpSpPr>
        <p:grpSpPr>
          <a:xfrm>
            <a:off x="7132877" y="4137052"/>
            <a:ext cx="3106587" cy="2348187"/>
            <a:chOff x="7185815" y="4164883"/>
            <a:chExt cx="3106587" cy="2348187"/>
          </a:xfrm>
        </p:grpSpPr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ED3F6BE4-8194-43DD-8746-7BEDE20F2A94}"/>
                </a:ext>
              </a:extLst>
            </p:cNvPr>
            <p:cNvGrpSpPr/>
            <p:nvPr/>
          </p:nvGrpSpPr>
          <p:grpSpPr>
            <a:xfrm rot="16200000">
              <a:off x="8772852" y="4356979"/>
              <a:ext cx="1506662" cy="1267628"/>
              <a:chOff x="3012861" y="4555070"/>
              <a:chExt cx="1506662" cy="1267628"/>
            </a:xfrm>
          </p:grpSpPr>
          <p:cxnSp>
            <p:nvCxnSpPr>
              <p:cNvPr id="179" name="직선 연결선 178">
                <a:extLst>
                  <a:ext uri="{FF2B5EF4-FFF2-40B4-BE49-F238E27FC236}">
                    <a16:creationId xmlns:a16="http://schemas.microsoft.com/office/drawing/2014/main" id="{C02F303F-A40C-083F-80DF-853D6185C0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3584" y="4555070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직선 연결선 179">
                <a:extLst>
                  <a:ext uri="{FF2B5EF4-FFF2-40B4-BE49-F238E27FC236}">
                    <a16:creationId xmlns:a16="http://schemas.microsoft.com/office/drawing/2014/main" id="{475084A9-17E7-0652-87E6-CDAAF8755C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2861" y="4979458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F62CAEA4-EA50-54A8-3287-AFFD0BB6FC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2861" y="5398289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7AC8AE30-1474-BD26-FF90-256846CA7A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2861" y="5822698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1" name="직선 화살표 연결선 120">
              <a:extLst>
                <a:ext uri="{FF2B5EF4-FFF2-40B4-BE49-F238E27FC236}">
                  <a16:creationId xmlns:a16="http://schemas.microsoft.com/office/drawing/2014/main" id="{0F77167B-01F3-5F84-81BF-58BA7773B2E2}"/>
                </a:ext>
              </a:extLst>
            </p:cNvPr>
            <p:cNvCxnSpPr>
              <a:cxnSpLocks/>
              <a:endCxn id="87" idx="1"/>
            </p:cNvCxnSpPr>
            <p:nvPr/>
          </p:nvCxnSpPr>
          <p:spPr>
            <a:xfrm>
              <a:off x="7923534" y="4914593"/>
              <a:ext cx="3057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B93DA23F-780F-DAB5-DEDD-7F5788341320}"/>
                </a:ext>
              </a:extLst>
            </p:cNvPr>
            <p:cNvCxnSpPr>
              <a:cxnSpLocks/>
              <a:endCxn id="104" idx="1"/>
            </p:cNvCxnSpPr>
            <p:nvPr/>
          </p:nvCxnSpPr>
          <p:spPr>
            <a:xfrm>
              <a:off x="8525908" y="4295161"/>
              <a:ext cx="15059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03460A24-D831-61B9-1186-BFE1E1265761}"/>
                </a:ext>
              </a:extLst>
            </p:cNvPr>
            <p:cNvCxnSpPr>
              <a:cxnSpLocks/>
            </p:cNvCxnSpPr>
            <p:nvPr/>
          </p:nvCxnSpPr>
          <p:spPr>
            <a:xfrm>
              <a:off x="8525185" y="4705693"/>
              <a:ext cx="15059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C935A0C2-01FD-FD5E-AD45-9FB2180B742F}"/>
                </a:ext>
              </a:extLst>
            </p:cNvPr>
            <p:cNvCxnSpPr>
              <a:cxnSpLocks/>
            </p:cNvCxnSpPr>
            <p:nvPr/>
          </p:nvCxnSpPr>
          <p:spPr>
            <a:xfrm>
              <a:off x="8525185" y="5118413"/>
              <a:ext cx="15059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3A4B2710-B86D-350C-53BF-606446FC08A2}"/>
                </a:ext>
              </a:extLst>
            </p:cNvPr>
            <p:cNvCxnSpPr>
              <a:cxnSpLocks/>
            </p:cNvCxnSpPr>
            <p:nvPr/>
          </p:nvCxnSpPr>
          <p:spPr>
            <a:xfrm>
              <a:off x="8525185" y="5534766"/>
              <a:ext cx="15059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AE55CA4C-0B01-D1D5-3E4D-D1E77E143DA9}"/>
                </a:ext>
              </a:extLst>
            </p:cNvPr>
            <p:cNvSpPr/>
            <p:nvPr/>
          </p:nvSpPr>
          <p:spPr>
            <a:xfrm>
              <a:off x="8229293" y="4164883"/>
              <a:ext cx="296615" cy="14994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Decoder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941C9710-725F-AFCC-5895-CE16B616D035}"/>
                </a:ext>
              </a:extLst>
            </p:cNvPr>
            <p:cNvGrpSpPr/>
            <p:nvPr/>
          </p:nvGrpSpPr>
          <p:grpSpPr>
            <a:xfrm>
              <a:off x="8762769" y="4164883"/>
              <a:ext cx="261278" cy="1499420"/>
              <a:chOff x="7742180" y="4301836"/>
              <a:chExt cx="261278" cy="1499420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7C939F84-F12D-CA80-97A3-4B9697AC02C6}"/>
                  </a:ext>
                </a:extLst>
              </p:cNvPr>
              <p:cNvSpPr/>
              <p:nvPr/>
            </p:nvSpPr>
            <p:spPr>
              <a:xfrm>
                <a:off x="7742903" y="430183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4EC2CE00-98BD-8964-A03A-1E8DE0EB0BF9}"/>
                  </a:ext>
                </a:extLst>
              </p:cNvPr>
              <p:cNvSpPr/>
              <p:nvPr/>
            </p:nvSpPr>
            <p:spPr>
              <a:xfrm>
                <a:off x="7742182" y="471479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3F1BBEE4-8CA9-4768-7F6B-F88A91E50EC5}"/>
                  </a:ext>
                </a:extLst>
              </p:cNvPr>
              <p:cNvSpPr/>
              <p:nvPr/>
            </p:nvSpPr>
            <p:spPr>
              <a:xfrm>
                <a:off x="7742181" y="512774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F849BF84-2FAE-E836-9088-47DA0D4C6BED}"/>
                  </a:ext>
                </a:extLst>
              </p:cNvPr>
              <p:cNvSpPr/>
              <p:nvPr/>
            </p:nvSpPr>
            <p:spPr>
              <a:xfrm>
                <a:off x="7742180" y="554070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34CA8DB2-67B6-80CC-0856-1D7CC3D65566}"/>
                </a:ext>
              </a:extLst>
            </p:cNvPr>
            <p:cNvGrpSpPr/>
            <p:nvPr/>
          </p:nvGrpSpPr>
          <p:grpSpPr>
            <a:xfrm>
              <a:off x="9185554" y="4164883"/>
              <a:ext cx="261278" cy="1499420"/>
              <a:chOff x="7742180" y="4301836"/>
              <a:chExt cx="261278" cy="1499420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AF9332ED-4288-B752-6478-4221BEBA4520}"/>
                  </a:ext>
                </a:extLst>
              </p:cNvPr>
              <p:cNvSpPr/>
              <p:nvPr/>
            </p:nvSpPr>
            <p:spPr>
              <a:xfrm>
                <a:off x="7742903" y="430183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4FB7E3BB-6F39-969F-5A2B-173709057FBA}"/>
                  </a:ext>
                </a:extLst>
              </p:cNvPr>
              <p:cNvSpPr/>
              <p:nvPr/>
            </p:nvSpPr>
            <p:spPr>
              <a:xfrm>
                <a:off x="7742182" y="471479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780ACAA8-968B-F040-9F45-0B79DB0379E7}"/>
                  </a:ext>
                </a:extLst>
              </p:cNvPr>
              <p:cNvSpPr/>
              <p:nvPr/>
            </p:nvSpPr>
            <p:spPr>
              <a:xfrm>
                <a:off x="7742181" y="512774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CC625CD2-1746-68C4-C58F-ACB52BE52DF8}"/>
                  </a:ext>
                </a:extLst>
              </p:cNvPr>
              <p:cNvSpPr/>
              <p:nvPr/>
            </p:nvSpPr>
            <p:spPr>
              <a:xfrm>
                <a:off x="7742180" y="554070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E39A3162-48AA-3163-655B-71F9F309E9A9}"/>
                </a:ext>
              </a:extLst>
            </p:cNvPr>
            <p:cNvGrpSpPr/>
            <p:nvPr/>
          </p:nvGrpSpPr>
          <p:grpSpPr>
            <a:xfrm>
              <a:off x="9608339" y="4164883"/>
              <a:ext cx="261278" cy="1499420"/>
              <a:chOff x="7742180" y="4301836"/>
              <a:chExt cx="261278" cy="1499420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884F751D-625C-4DD3-5C81-9B815F309286}"/>
                  </a:ext>
                </a:extLst>
              </p:cNvPr>
              <p:cNvSpPr/>
              <p:nvPr/>
            </p:nvSpPr>
            <p:spPr>
              <a:xfrm>
                <a:off x="7742903" y="430183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EB84B98A-F0CF-E8E5-CCC6-898EE29871AE}"/>
                  </a:ext>
                </a:extLst>
              </p:cNvPr>
              <p:cNvSpPr/>
              <p:nvPr/>
            </p:nvSpPr>
            <p:spPr>
              <a:xfrm>
                <a:off x="7742182" y="471479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9392B121-9F43-4513-00CB-FD343C689DAB}"/>
                  </a:ext>
                </a:extLst>
              </p:cNvPr>
              <p:cNvSpPr/>
              <p:nvPr/>
            </p:nvSpPr>
            <p:spPr>
              <a:xfrm>
                <a:off x="7742181" y="512774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01463C9A-A49C-3A19-CD17-DE69A004AB32}"/>
                  </a:ext>
                </a:extLst>
              </p:cNvPr>
              <p:cNvSpPr/>
              <p:nvPr/>
            </p:nvSpPr>
            <p:spPr>
              <a:xfrm>
                <a:off x="7742180" y="554070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6E10F122-F2D5-560A-039B-7DF15F6BB833}"/>
                </a:ext>
              </a:extLst>
            </p:cNvPr>
            <p:cNvGrpSpPr/>
            <p:nvPr/>
          </p:nvGrpSpPr>
          <p:grpSpPr>
            <a:xfrm>
              <a:off x="10031124" y="4164883"/>
              <a:ext cx="261278" cy="1499420"/>
              <a:chOff x="7742180" y="4301836"/>
              <a:chExt cx="261278" cy="1499420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EEE2192A-C1F2-6392-223C-E6F37600AA3B}"/>
                  </a:ext>
                </a:extLst>
              </p:cNvPr>
              <p:cNvSpPr/>
              <p:nvPr/>
            </p:nvSpPr>
            <p:spPr>
              <a:xfrm>
                <a:off x="7742903" y="430183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366B0453-32AB-D659-F008-E3D30AD6014E}"/>
                  </a:ext>
                </a:extLst>
              </p:cNvPr>
              <p:cNvSpPr/>
              <p:nvPr/>
            </p:nvSpPr>
            <p:spPr>
              <a:xfrm>
                <a:off x="7742182" y="471479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C180DAB1-AE76-522F-FB72-3081A5928EF5}"/>
                  </a:ext>
                </a:extLst>
              </p:cNvPr>
              <p:cNvSpPr/>
              <p:nvPr/>
            </p:nvSpPr>
            <p:spPr>
              <a:xfrm>
                <a:off x="7742181" y="512774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81757030-0913-90FC-CD51-AD054724280D}"/>
                  </a:ext>
                </a:extLst>
              </p:cNvPr>
              <p:cNvSpPr/>
              <p:nvPr/>
            </p:nvSpPr>
            <p:spPr>
              <a:xfrm>
                <a:off x="7742180" y="554070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CB3A06B8-912D-5A1A-89E1-3E6EA54DA8D8}"/>
                </a:ext>
              </a:extLst>
            </p:cNvPr>
            <p:cNvGrpSpPr/>
            <p:nvPr/>
          </p:nvGrpSpPr>
          <p:grpSpPr>
            <a:xfrm>
              <a:off x="8893046" y="5683769"/>
              <a:ext cx="1266054" cy="454762"/>
              <a:chOff x="7874758" y="5902016"/>
              <a:chExt cx="1266054" cy="454762"/>
            </a:xfrm>
          </p:grpSpPr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F23DD80D-2E95-FB16-E968-D06B3CBC7A07}"/>
                  </a:ext>
                </a:extLst>
              </p:cNvPr>
              <p:cNvGrpSpPr/>
              <p:nvPr/>
            </p:nvGrpSpPr>
            <p:grpSpPr>
              <a:xfrm>
                <a:off x="7874758" y="5902016"/>
                <a:ext cx="1266054" cy="243527"/>
                <a:chOff x="7874758" y="5902016"/>
                <a:chExt cx="1266054" cy="243527"/>
              </a:xfrm>
            </p:grpSpPr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1663378E-9A37-2B8F-97EA-40FA1AFF8597}"/>
                    </a:ext>
                  </a:extLst>
                </p:cNvPr>
                <p:cNvGrpSpPr/>
                <p:nvPr/>
              </p:nvGrpSpPr>
              <p:grpSpPr>
                <a:xfrm>
                  <a:off x="7874758" y="5902016"/>
                  <a:ext cx="423359" cy="243527"/>
                  <a:chOff x="7874758" y="5902016"/>
                  <a:chExt cx="423359" cy="243527"/>
                </a:xfrm>
              </p:grpSpPr>
              <p:cxnSp>
                <p:nvCxnSpPr>
                  <p:cNvPr id="109" name="직선 화살표 연결선 108">
                    <a:extLst>
                      <a:ext uri="{FF2B5EF4-FFF2-40B4-BE49-F238E27FC236}">
                        <a16:creationId xmlns:a16="http://schemas.microsoft.com/office/drawing/2014/main" id="{090C5B72-ADEF-2122-4D99-1F72576D834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874758" y="5902016"/>
                    <a:ext cx="0" cy="24352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직선 화살표 연결선 109">
                    <a:extLst>
                      <a:ext uri="{FF2B5EF4-FFF2-40B4-BE49-F238E27FC236}">
                        <a16:creationId xmlns:a16="http://schemas.microsoft.com/office/drawing/2014/main" id="{BAF1BF99-3313-F59B-9140-EF6B42B14DA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8117" y="5902016"/>
                    <a:ext cx="0" cy="24352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2" name="그룹 111">
                  <a:extLst>
                    <a:ext uri="{FF2B5EF4-FFF2-40B4-BE49-F238E27FC236}">
                      <a16:creationId xmlns:a16="http://schemas.microsoft.com/office/drawing/2014/main" id="{C8498FDE-813E-C52A-2A07-F4EA8D6D6A11}"/>
                    </a:ext>
                  </a:extLst>
                </p:cNvPr>
                <p:cNvGrpSpPr/>
                <p:nvPr/>
              </p:nvGrpSpPr>
              <p:grpSpPr>
                <a:xfrm>
                  <a:off x="8717453" y="5902016"/>
                  <a:ext cx="423359" cy="243527"/>
                  <a:chOff x="7874758" y="5902016"/>
                  <a:chExt cx="423359" cy="243527"/>
                </a:xfrm>
              </p:grpSpPr>
              <p:cxnSp>
                <p:nvCxnSpPr>
                  <p:cNvPr id="113" name="직선 화살표 연결선 112">
                    <a:extLst>
                      <a:ext uri="{FF2B5EF4-FFF2-40B4-BE49-F238E27FC236}">
                        <a16:creationId xmlns:a16="http://schemas.microsoft.com/office/drawing/2014/main" id="{6C50DEE9-6162-4150-4484-5A775C50A4E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874758" y="5902016"/>
                    <a:ext cx="0" cy="24352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직선 화살표 연결선 113">
                    <a:extLst>
                      <a:ext uri="{FF2B5EF4-FFF2-40B4-BE49-F238E27FC236}">
                        <a16:creationId xmlns:a16="http://schemas.microsoft.com/office/drawing/2014/main" id="{83061FC5-DB0D-FFDF-6249-36AEE76ADBD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8117" y="5902016"/>
                    <a:ext cx="0" cy="24352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1FB2659F-D73B-35A0-4EC6-A2BD7E76905D}"/>
                  </a:ext>
                </a:extLst>
              </p:cNvPr>
              <p:cNvCxnSpPr/>
              <p:nvPr/>
            </p:nvCxnSpPr>
            <p:spPr>
              <a:xfrm>
                <a:off x="7874758" y="6136601"/>
                <a:ext cx="126605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>
                <a:extLst>
                  <a:ext uri="{FF2B5EF4-FFF2-40B4-BE49-F238E27FC236}">
                    <a16:creationId xmlns:a16="http://schemas.microsoft.com/office/drawing/2014/main" id="{8AEB12DB-E673-3567-4C3F-B34C8DCA0AF8}"/>
                  </a:ext>
                </a:extLst>
              </p:cNvPr>
              <p:cNvCxnSpPr/>
              <p:nvPr/>
            </p:nvCxnSpPr>
            <p:spPr>
              <a:xfrm>
                <a:off x="8511341" y="6135410"/>
                <a:ext cx="0" cy="2213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095D74F-E731-4392-68C3-4EBCCA5148A6}"/>
                </a:ext>
              </a:extLst>
            </p:cNvPr>
            <p:cNvSpPr txBox="1"/>
            <p:nvPr/>
          </p:nvSpPr>
          <p:spPr>
            <a:xfrm>
              <a:off x="7185815" y="4715781"/>
              <a:ext cx="805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index</a:t>
              </a:r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0D7BB5B-F2D0-FF06-7DEB-59EEE7E573CD}"/>
                </a:ext>
              </a:extLst>
            </p:cNvPr>
            <p:cNvSpPr txBox="1"/>
            <p:nvPr/>
          </p:nvSpPr>
          <p:spPr>
            <a:xfrm>
              <a:off x="8966214" y="6143738"/>
              <a:ext cx="11197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Data bus</a:t>
              </a:r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45969420-FCD0-68C6-066D-A06C56CB867D}"/>
              </a:ext>
            </a:extLst>
          </p:cNvPr>
          <p:cNvGrpSpPr/>
          <p:nvPr/>
        </p:nvGrpSpPr>
        <p:grpSpPr>
          <a:xfrm>
            <a:off x="708040" y="4135547"/>
            <a:ext cx="3010101" cy="2349692"/>
            <a:chOff x="884512" y="4135547"/>
            <a:chExt cx="3010101" cy="2349692"/>
          </a:xfrm>
        </p:grpSpPr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6F5B3AA5-8983-75D9-5FB7-8C3C6CC5BE0C}"/>
                </a:ext>
              </a:extLst>
            </p:cNvPr>
            <p:cNvGrpSpPr/>
            <p:nvPr/>
          </p:nvGrpSpPr>
          <p:grpSpPr>
            <a:xfrm>
              <a:off x="2127396" y="4265825"/>
              <a:ext cx="1506662" cy="1239605"/>
              <a:chOff x="2127396" y="4265825"/>
              <a:chExt cx="1506662" cy="1239605"/>
            </a:xfrm>
          </p:grpSpPr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BDE84D59-E467-E509-E7F4-678D4DAA6420}"/>
                  </a:ext>
                </a:extLst>
              </p:cNvPr>
              <p:cNvCxnSpPr>
                <a:cxnSpLocks/>
                <a:endCxn id="149" idx="1"/>
              </p:cNvCxnSpPr>
              <p:nvPr/>
            </p:nvCxnSpPr>
            <p:spPr>
              <a:xfrm>
                <a:off x="2128119" y="4265825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B624E952-23DC-65B1-9AAB-6FD8B872C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7396" y="4676357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FB65D420-1C4C-DBCB-0A19-DAB7E93C36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7396" y="5089077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87F882EE-4F22-AD73-F2A9-D840D9C4F8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7396" y="5505430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6A0A7719-A75C-A74E-65D2-8754311221E9}"/>
                </a:ext>
              </a:extLst>
            </p:cNvPr>
            <p:cNvGrpSpPr/>
            <p:nvPr/>
          </p:nvGrpSpPr>
          <p:grpSpPr>
            <a:xfrm rot="16200000">
              <a:off x="2376638" y="4398307"/>
              <a:ext cx="1506662" cy="1269049"/>
              <a:chOff x="3012861" y="4555070"/>
              <a:chExt cx="1506662" cy="1269049"/>
            </a:xfrm>
          </p:grpSpPr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7850CB1C-E545-6061-8A0A-C6B135C483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3584" y="4555070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CDEE5795-7E53-5D0C-0123-72330B5264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2861" y="4979458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F9A3B00A-D7F9-9F20-9439-AEE6E7B17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2861" y="5402570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25FDC7DE-AEAC-1C8E-A674-D2F63676F5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2861" y="5824119"/>
                <a:ext cx="15059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1B8B833C-63C5-1A10-35C9-BCD008E14FC0}"/>
                </a:ext>
              </a:extLst>
            </p:cNvPr>
            <p:cNvGrpSpPr/>
            <p:nvPr/>
          </p:nvGrpSpPr>
          <p:grpSpPr>
            <a:xfrm>
              <a:off x="2364980" y="4135547"/>
              <a:ext cx="261278" cy="1499420"/>
              <a:chOff x="7742180" y="4301836"/>
              <a:chExt cx="261278" cy="1499420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B846B12E-084B-839E-78E9-A45BBCB50E2B}"/>
                  </a:ext>
                </a:extLst>
              </p:cNvPr>
              <p:cNvSpPr/>
              <p:nvPr/>
            </p:nvSpPr>
            <p:spPr>
              <a:xfrm>
                <a:off x="7742903" y="430183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B79043EF-DD13-8C4F-9B85-81865208B025}"/>
                  </a:ext>
                </a:extLst>
              </p:cNvPr>
              <p:cNvSpPr/>
              <p:nvPr/>
            </p:nvSpPr>
            <p:spPr>
              <a:xfrm>
                <a:off x="7742182" y="471479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74D4AFC5-5680-E1BB-5D45-9DCDE9DE5444}"/>
                  </a:ext>
                </a:extLst>
              </p:cNvPr>
              <p:cNvSpPr/>
              <p:nvPr/>
            </p:nvSpPr>
            <p:spPr>
              <a:xfrm>
                <a:off x="7742181" y="512774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452158C2-012B-161F-C1E1-AB08425AD300}"/>
                  </a:ext>
                </a:extLst>
              </p:cNvPr>
              <p:cNvSpPr/>
              <p:nvPr/>
            </p:nvSpPr>
            <p:spPr>
              <a:xfrm>
                <a:off x="7742180" y="554070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878201E7-2CEB-EE56-CA86-D0481DE20506}"/>
                </a:ext>
              </a:extLst>
            </p:cNvPr>
            <p:cNvGrpSpPr/>
            <p:nvPr/>
          </p:nvGrpSpPr>
          <p:grpSpPr>
            <a:xfrm>
              <a:off x="2787765" y="4135547"/>
              <a:ext cx="261278" cy="1499420"/>
              <a:chOff x="7742180" y="4301836"/>
              <a:chExt cx="261278" cy="1499420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351F2F3B-88B7-AF9F-1856-4C9E7FB5101C}"/>
                  </a:ext>
                </a:extLst>
              </p:cNvPr>
              <p:cNvSpPr/>
              <p:nvPr/>
            </p:nvSpPr>
            <p:spPr>
              <a:xfrm>
                <a:off x="7742903" y="430183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1D39C40A-C6E9-BB9E-2621-08043725791F}"/>
                  </a:ext>
                </a:extLst>
              </p:cNvPr>
              <p:cNvSpPr/>
              <p:nvPr/>
            </p:nvSpPr>
            <p:spPr>
              <a:xfrm>
                <a:off x="7742182" y="471479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36ED0D5D-0B47-375D-0AE3-B21DE6661A15}"/>
                  </a:ext>
                </a:extLst>
              </p:cNvPr>
              <p:cNvSpPr/>
              <p:nvPr/>
            </p:nvSpPr>
            <p:spPr>
              <a:xfrm>
                <a:off x="7742181" y="512774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8BCAB2E0-6728-98CD-96DD-6860E446EE36}"/>
                  </a:ext>
                </a:extLst>
              </p:cNvPr>
              <p:cNvSpPr/>
              <p:nvPr/>
            </p:nvSpPr>
            <p:spPr>
              <a:xfrm>
                <a:off x="7742180" y="554070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EB513690-79CE-F8C2-52DF-B94AB2FE02FE}"/>
                </a:ext>
              </a:extLst>
            </p:cNvPr>
            <p:cNvGrpSpPr/>
            <p:nvPr/>
          </p:nvGrpSpPr>
          <p:grpSpPr>
            <a:xfrm>
              <a:off x="3210550" y="4135547"/>
              <a:ext cx="261278" cy="1499420"/>
              <a:chOff x="7742180" y="4301836"/>
              <a:chExt cx="261278" cy="1499420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4DEB1681-D1A0-90FD-A01C-D030FFC90258}"/>
                  </a:ext>
                </a:extLst>
              </p:cNvPr>
              <p:cNvSpPr/>
              <p:nvPr/>
            </p:nvSpPr>
            <p:spPr>
              <a:xfrm>
                <a:off x="7742903" y="430183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156732E3-82BA-AA36-8BC8-C6955E3B7E63}"/>
                  </a:ext>
                </a:extLst>
              </p:cNvPr>
              <p:cNvSpPr/>
              <p:nvPr/>
            </p:nvSpPr>
            <p:spPr>
              <a:xfrm>
                <a:off x="7742182" y="471479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C15358E6-BD8C-2048-DAF8-B0FB58FD09BC}"/>
                  </a:ext>
                </a:extLst>
              </p:cNvPr>
              <p:cNvSpPr/>
              <p:nvPr/>
            </p:nvSpPr>
            <p:spPr>
              <a:xfrm>
                <a:off x="7742181" y="512774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3E69209B-AEA7-FA5E-F754-CF5A09C9CEA4}"/>
                  </a:ext>
                </a:extLst>
              </p:cNvPr>
              <p:cNvSpPr/>
              <p:nvPr/>
            </p:nvSpPr>
            <p:spPr>
              <a:xfrm>
                <a:off x="7742180" y="554070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920F32AA-DD3B-ACE8-85F7-08FDB1AF916D}"/>
                </a:ext>
              </a:extLst>
            </p:cNvPr>
            <p:cNvGrpSpPr/>
            <p:nvPr/>
          </p:nvGrpSpPr>
          <p:grpSpPr>
            <a:xfrm>
              <a:off x="3633335" y="4135547"/>
              <a:ext cx="261278" cy="1499420"/>
              <a:chOff x="7742180" y="4301836"/>
              <a:chExt cx="261278" cy="1499420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705864BB-AA3E-E7A2-C23A-A88BAE181C38}"/>
                  </a:ext>
                </a:extLst>
              </p:cNvPr>
              <p:cNvSpPr/>
              <p:nvPr/>
            </p:nvSpPr>
            <p:spPr>
              <a:xfrm>
                <a:off x="7742903" y="430183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00966A51-32E4-C9DA-FC4C-47ACD0EF1FB7}"/>
                  </a:ext>
                </a:extLst>
              </p:cNvPr>
              <p:cNvSpPr/>
              <p:nvPr/>
            </p:nvSpPr>
            <p:spPr>
              <a:xfrm>
                <a:off x="7742182" y="471479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56DA1996-7D6E-E24E-9548-5FFCAC4F2270}"/>
                  </a:ext>
                </a:extLst>
              </p:cNvPr>
              <p:cNvSpPr/>
              <p:nvPr/>
            </p:nvSpPr>
            <p:spPr>
              <a:xfrm>
                <a:off x="7742181" y="5127746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77930640-38D4-EBA8-EF62-101319F3F7F9}"/>
                  </a:ext>
                </a:extLst>
              </p:cNvPr>
              <p:cNvSpPr/>
              <p:nvPr/>
            </p:nvSpPr>
            <p:spPr>
              <a:xfrm>
                <a:off x="7742180" y="5540701"/>
                <a:ext cx="260555" cy="2605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5CCF4AEB-0F97-4320-0C6A-6FA36C8780F3}"/>
                </a:ext>
              </a:extLst>
            </p:cNvPr>
            <p:cNvGrpSpPr/>
            <p:nvPr/>
          </p:nvGrpSpPr>
          <p:grpSpPr>
            <a:xfrm rot="5400000">
              <a:off x="1339938" y="4658246"/>
              <a:ext cx="1239605" cy="454762"/>
              <a:chOff x="7874758" y="5902016"/>
              <a:chExt cx="1266054" cy="454762"/>
            </a:xfrm>
          </p:grpSpPr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0B56B9D8-88AF-FFDE-9F44-ADCDBD6EB95E}"/>
                  </a:ext>
                </a:extLst>
              </p:cNvPr>
              <p:cNvGrpSpPr/>
              <p:nvPr/>
            </p:nvGrpSpPr>
            <p:grpSpPr>
              <a:xfrm>
                <a:off x="7874758" y="5902016"/>
                <a:ext cx="1266054" cy="243527"/>
                <a:chOff x="7874758" y="5902016"/>
                <a:chExt cx="1266054" cy="243527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ACFBAD90-69ED-E265-3283-71AEAEBB5959}"/>
                    </a:ext>
                  </a:extLst>
                </p:cNvPr>
                <p:cNvGrpSpPr/>
                <p:nvPr/>
              </p:nvGrpSpPr>
              <p:grpSpPr>
                <a:xfrm>
                  <a:off x="7874758" y="5902016"/>
                  <a:ext cx="419895" cy="243527"/>
                  <a:chOff x="7874758" y="5902016"/>
                  <a:chExt cx="419895" cy="243527"/>
                </a:xfrm>
              </p:grpSpPr>
              <p:cxnSp>
                <p:nvCxnSpPr>
                  <p:cNvPr id="161" name="직선 화살표 연결선 160">
                    <a:extLst>
                      <a:ext uri="{FF2B5EF4-FFF2-40B4-BE49-F238E27FC236}">
                        <a16:creationId xmlns:a16="http://schemas.microsoft.com/office/drawing/2014/main" id="{5BB35B29-5BB4-C35A-4459-29A99CCE326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874758" y="5902016"/>
                    <a:ext cx="0" cy="24352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직선 화살표 연결선 161">
                    <a:extLst>
                      <a:ext uri="{FF2B5EF4-FFF2-40B4-BE49-F238E27FC236}">
                        <a16:creationId xmlns:a16="http://schemas.microsoft.com/office/drawing/2014/main" id="{342F2CC2-0A1A-0713-7D3B-202325788AA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4653" y="5902016"/>
                    <a:ext cx="0" cy="24352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8" name="그룹 157">
                  <a:extLst>
                    <a:ext uri="{FF2B5EF4-FFF2-40B4-BE49-F238E27FC236}">
                      <a16:creationId xmlns:a16="http://schemas.microsoft.com/office/drawing/2014/main" id="{D36C4598-D0CC-FB26-B0C0-83F11B394EC0}"/>
                    </a:ext>
                  </a:extLst>
                </p:cNvPr>
                <p:cNvGrpSpPr/>
                <p:nvPr/>
              </p:nvGrpSpPr>
              <p:grpSpPr>
                <a:xfrm>
                  <a:off x="8715721" y="5902016"/>
                  <a:ext cx="425091" cy="243527"/>
                  <a:chOff x="7873026" y="5902016"/>
                  <a:chExt cx="425091" cy="243527"/>
                </a:xfrm>
              </p:grpSpPr>
              <p:cxnSp>
                <p:nvCxnSpPr>
                  <p:cNvPr id="159" name="직선 화살표 연결선 158">
                    <a:extLst>
                      <a:ext uri="{FF2B5EF4-FFF2-40B4-BE49-F238E27FC236}">
                        <a16:creationId xmlns:a16="http://schemas.microsoft.com/office/drawing/2014/main" id="{C4A1D60E-AD3C-253D-93EB-699B5012781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873026" y="5902016"/>
                    <a:ext cx="0" cy="24352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직선 화살표 연결선 159">
                    <a:extLst>
                      <a:ext uri="{FF2B5EF4-FFF2-40B4-BE49-F238E27FC236}">
                        <a16:creationId xmlns:a16="http://schemas.microsoft.com/office/drawing/2014/main" id="{BEFFE5E0-9D72-ECD6-8497-27957D93A82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8117" y="5902016"/>
                    <a:ext cx="0" cy="24352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5" name="직선 연결선 154">
                <a:extLst>
                  <a:ext uri="{FF2B5EF4-FFF2-40B4-BE49-F238E27FC236}">
                    <a16:creationId xmlns:a16="http://schemas.microsoft.com/office/drawing/2014/main" id="{37316A1A-5CB1-44DB-2122-81E6AF7B2FFF}"/>
                  </a:ext>
                </a:extLst>
              </p:cNvPr>
              <p:cNvCxnSpPr/>
              <p:nvPr/>
            </p:nvCxnSpPr>
            <p:spPr>
              <a:xfrm>
                <a:off x="7874758" y="6136601"/>
                <a:ext cx="126605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>
                <a:extLst>
                  <a:ext uri="{FF2B5EF4-FFF2-40B4-BE49-F238E27FC236}">
                    <a16:creationId xmlns:a16="http://schemas.microsoft.com/office/drawing/2014/main" id="{D48DDD71-5811-ABC7-A8C5-057C294A7F68}"/>
                  </a:ext>
                </a:extLst>
              </p:cNvPr>
              <p:cNvCxnSpPr/>
              <p:nvPr/>
            </p:nvCxnSpPr>
            <p:spPr>
              <a:xfrm>
                <a:off x="8511341" y="6135410"/>
                <a:ext cx="0" cy="2213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3" name="직선 화살표 연결선 162">
              <a:extLst>
                <a:ext uri="{FF2B5EF4-FFF2-40B4-BE49-F238E27FC236}">
                  <a16:creationId xmlns:a16="http://schemas.microsoft.com/office/drawing/2014/main" id="{4D3E0D0F-3319-87BA-9F64-101545DA21A5}"/>
                </a:ext>
              </a:extLst>
            </p:cNvPr>
            <p:cNvCxnSpPr>
              <a:cxnSpLocks/>
            </p:cNvCxnSpPr>
            <p:nvPr/>
          </p:nvCxnSpPr>
          <p:spPr>
            <a:xfrm>
              <a:off x="2059221" y="6125706"/>
              <a:ext cx="3057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BCC85D02-94D4-96FD-0F4B-1D0DCF798CD2}"/>
                </a:ext>
              </a:extLst>
            </p:cNvPr>
            <p:cNvSpPr txBox="1"/>
            <p:nvPr/>
          </p:nvSpPr>
          <p:spPr>
            <a:xfrm>
              <a:off x="884512" y="4695448"/>
              <a:ext cx="9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Enable</a:t>
              </a:r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657B5D1D-405A-371C-87A7-6FBE1B000848}"/>
                </a:ext>
              </a:extLst>
            </p:cNvPr>
            <p:cNvSpPr/>
            <p:nvPr/>
          </p:nvSpPr>
          <p:spPr>
            <a:xfrm>
              <a:off x="2364980" y="5785580"/>
              <a:ext cx="1528904" cy="69965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Router</a:t>
              </a:r>
              <a:endPara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A92960D6-A578-7145-BA14-964F671DD88E}"/>
                </a:ext>
              </a:extLst>
            </p:cNvPr>
            <p:cNvSpPr txBox="1"/>
            <p:nvPr/>
          </p:nvSpPr>
          <p:spPr>
            <a:xfrm>
              <a:off x="1400435" y="5910331"/>
              <a:ext cx="9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Data</a:t>
              </a:r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D48BC4BB-9BB0-8CEE-7720-5A0DE8F97C05}"/>
              </a:ext>
            </a:extLst>
          </p:cNvPr>
          <p:cNvSpPr txBox="1"/>
          <p:nvPr/>
        </p:nvSpPr>
        <p:spPr>
          <a:xfrm>
            <a:off x="3845015" y="5971991"/>
            <a:ext cx="2023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Wide data router!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AFA06D0-893B-6755-5F14-4BC1429E573A}"/>
              </a:ext>
            </a:extLst>
          </p:cNvPr>
          <p:cNvSpPr txBox="1"/>
          <p:nvPr/>
        </p:nvSpPr>
        <p:spPr>
          <a:xfrm>
            <a:off x="6904285" y="5708449"/>
            <a:ext cx="1698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Simple decoder!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88" name="그림 187" descr="Symbol">
            <a:extLst>
              <a:ext uri="{FF2B5EF4-FFF2-40B4-BE49-F238E27FC236}">
                <a16:creationId xmlns:a16="http://schemas.microsoft.com/office/drawing/2014/main" id="{F28D9C18-D6A3-7A84-CDDE-BCF1B4F52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9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  <p:bldP spid="18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874E-E1AD-6032-83E7-11E05134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EAD1D27-0750-86CC-4E65-D53EF2823B41}"/>
              </a:ext>
            </a:extLst>
          </p:cNvPr>
          <p:cNvSpPr txBox="1">
            <a:spLocks/>
          </p:cNvSpPr>
          <p:nvPr/>
        </p:nvSpPr>
        <p:spPr>
          <a:xfrm>
            <a:off x="290671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Synthesis-aware RTL Optimization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DAE6771-E324-78CB-B091-C4B4C55B3A50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D61FFDC-6C28-2BBE-6D67-2AE058C44F3E}"/>
              </a:ext>
            </a:extLst>
          </p:cNvPr>
          <p:cNvSpPr txBox="1"/>
          <p:nvPr/>
        </p:nvSpPr>
        <p:spPr>
          <a:xfrm>
            <a:off x="290671" y="1446300"/>
            <a:ext cx="11155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Guiding Design Compiler to: </a:t>
            </a:r>
          </a:p>
          <a:p>
            <a:r>
              <a:rPr lang="en-US" altLang="ko-KR" sz="2000" b="1" dirty="0"/>
              <a:t>2. Synthesize a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Balanced Adder Tree in the DCT Module</a:t>
            </a:r>
          </a:p>
        </p:txBody>
      </p:sp>
      <p:pic>
        <p:nvPicPr>
          <p:cNvPr id="76" name="그림 75" descr="The image shows a snippet of code that assigns the sum of four variables (s4_0 to s4_3) to another variable (m0) after shifting the result to the left by 3 bits.&#10;&#10;AI 생성 콘텐츠는 정확하지 않을 수 있습니다.">
            <a:extLst>
              <a:ext uri="{FF2B5EF4-FFF2-40B4-BE49-F238E27FC236}">
                <a16:creationId xmlns:a16="http://schemas.microsoft.com/office/drawing/2014/main" id="{8EED02DB-9228-7F98-BBB5-372FCA24F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00" y="2712128"/>
            <a:ext cx="3724302" cy="428628"/>
          </a:xfrm>
          <a:prstGeom prst="rect">
            <a:avLst/>
          </a:prstGeom>
        </p:spPr>
      </p:pic>
      <p:pic>
        <p:nvPicPr>
          <p:cNvPr id="78" name="그림 77" descr="The provided text describes a snippet of code, specifically an assignment statement in a programming context, where an integer variable `m0` is being assigned the sum of two other variables `s4_0` and `s4_3`, plus the sum of `s4_1` and `s4_2`, with the entire sum then being shifted left by three positions in binary representation.&#10;&#10;AI 생성 콘텐츠는 정확하지 않을 수 있습니다.">
            <a:extLst>
              <a:ext uri="{FF2B5EF4-FFF2-40B4-BE49-F238E27FC236}">
                <a16:creationId xmlns:a16="http://schemas.microsoft.com/office/drawing/2014/main" id="{4279B271-35E9-2F21-3D49-1BD07FD5F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415" y="2569410"/>
            <a:ext cx="4238656" cy="723905"/>
          </a:xfrm>
          <a:prstGeom prst="rect">
            <a:avLst/>
          </a:prstGeom>
        </p:spPr>
      </p:pic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96055C21-3D83-90C3-8BD8-B2489DA641D5}"/>
              </a:ext>
            </a:extLst>
          </p:cNvPr>
          <p:cNvCxnSpPr/>
          <p:nvPr/>
        </p:nvCxnSpPr>
        <p:spPr>
          <a:xfrm>
            <a:off x="5349095" y="2986263"/>
            <a:ext cx="8153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F6F9AAE-E90F-948F-3238-1619B716E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251605"/>
              </p:ext>
            </p:extLst>
          </p:nvPr>
        </p:nvGraphicFramePr>
        <p:xfrm>
          <a:off x="2031999" y="3974914"/>
          <a:ext cx="81280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818">
                  <a:extLst>
                    <a:ext uri="{9D8B030D-6E8A-4147-A177-3AD203B41FA5}">
                      <a16:colId xmlns:a16="http://schemas.microsoft.com/office/drawing/2014/main" val="2989489442"/>
                    </a:ext>
                  </a:extLst>
                </a:gridCol>
                <a:gridCol w="1675296">
                  <a:extLst>
                    <a:ext uri="{9D8B030D-6E8A-4147-A177-3AD203B41FA5}">
                      <a16:colId xmlns:a16="http://schemas.microsoft.com/office/drawing/2014/main" val="1644448452"/>
                    </a:ext>
                  </a:extLst>
                </a:gridCol>
                <a:gridCol w="1675296">
                  <a:extLst>
                    <a:ext uri="{9D8B030D-6E8A-4147-A177-3AD203B41FA5}">
                      <a16:colId xmlns:a16="http://schemas.microsoft.com/office/drawing/2014/main" val="233941354"/>
                    </a:ext>
                  </a:extLst>
                </a:gridCol>
                <a:gridCol w="1675296">
                  <a:extLst>
                    <a:ext uri="{9D8B030D-6E8A-4147-A177-3AD203B41FA5}">
                      <a16:colId xmlns:a16="http://schemas.microsoft.com/office/drawing/2014/main" val="3338984345"/>
                    </a:ext>
                  </a:extLst>
                </a:gridCol>
                <a:gridCol w="1675296">
                  <a:extLst>
                    <a:ext uri="{9D8B030D-6E8A-4147-A177-3AD203B41FA5}">
                      <a16:colId xmlns:a16="http://schemas.microsoft.com/office/drawing/2014/main" val="355694732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Before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After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9686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Combinational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Non-combinational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Combinational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Non-combinational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459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TPMEM1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443843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505471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379653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505355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2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TPMEM2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691625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367670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302414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370258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957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DCT_2D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442516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398334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1384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0FD6541-87AC-4DA4-91A0-7B54C2B0A75A}"/>
              </a:ext>
            </a:extLst>
          </p:cNvPr>
          <p:cNvSpPr txBox="1"/>
          <p:nvPr/>
        </p:nvSpPr>
        <p:spPr>
          <a:xfrm>
            <a:off x="2031999" y="5844482"/>
            <a:ext cx="8128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Result</a:t>
            </a:r>
            <a:r>
              <a:rPr lang="ko-KR" altLang="en-US" b="1" dirty="0"/>
              <a:t> </a:t>
            </a:r>
            <a:r>
              <a:rPr lang="en-US" altLang="ko-KR" b="1" dirty="0"/>
              <a:t>of</a:t>
            </a:r>
            <a:r>
              <a:rPr lang="ko-KR" altLang="en-US" b="1" dirty="0"/>
              <a:t> </a:t>
            </a:r>
            <a:r>
              <a:rPr lang="en-US" altLang="ko-KR" b="1" dirty="0"/>
              <a:t>Synthesis-aware</a:t>
            </a:r>
            <a:r>
              <a:rPr lang="ko-KR" altLang="en-US" b="1" dirty="0"/>
              <a:t> </a:t>
            </a:r>
            <a:r>
              <a:rPr lang="en-US" altLang="ko-KR" b="1" dirty="0"/>
              <a:t>RTL</a:t>
            </a:r>
            <a:r>
              <a:rPr lang="ko-KR" altLang="en-US" b="1" dirty="0"/>
              <a:t> </a:t>
            </a:r>
            <a:r>
              <a:rPr lang="en-US" altLang="ko-KR" b="1" dirty="0"/>
              <a:t>Optimization</a:t>
            </a:r>
            <a:endParaRPr lang="ko-KR" altLang="en-US" b="1" dirty="0"/>
          </a:p>
        </p:txBody>
      </p:sp>
      <p:pic>
        <p:nvPicPr>
          <p:cNvPr id="11" name="그림 10" descr="Symbol">
            <a:extLst>
              <a:ext uri="{FF2B5EF4-FFF2-40B4-BE49-F238E27FC236}">
                <a16:creationId xmlns:a16="http://schemas.microsoft.com/office/drawing/2014/main" id="{0EBC1FAE-1393-AC1E-D56B-2D78B0B63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A5ED1-913D-A7C8-9F55-D3AB4585B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B284FDB-5CBA-D37E-1CAC-E5FDED9D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71" y="18255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Glitch Handling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E36A8C0-0BD1-653B-3B40-CA22BD50334A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5683FDA-3DFC-3E0E-AF6F-FD4C54310940}"/>
              </a:ext>
            </a:extLst>
          </p:cNvPr>
          <p:cNvSpPr txBox="1"/>
          <p:nvPr/>
        </p:nvSpPr>
        <p:spPr>
          <a:xfrm>
            <a:off x="2093537" y="1551840"/>
            <a:ext cx="800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Sign reversal after truncation will cause glitches to occur.</a:t>
            </a:r>
            <a:endParaRPr lang="ko-KR" altLang="en-US" b="1" dirty="0"/>
          </a:p>
        </p:txBody>
      </p:sp>
      <p:pic>
        <p:nvPicPr>
          <p:cNvPr id="9" name="그림 8" descr="The image shows a snippet of Verilog code with multiple conditional assignments for different variables (z0c, z1c, z2c, etc.) based on the comparison of two 2-bit values.&#10;&#10;AI 생성 콘텐츠는 정확하지 않을 수 있습니다.">
            <a:extLst>
              <a:ext uri="{FF2B5EF4-FFF2-40B4-BE49-F238E27FC236}">
                <a16:creationId xmlns:a16="http://schemas.microsoft.com/office/drawing/2014/main" id="{688582E2-5258-6941-EFA2-505DC1ECF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746" y="4194469"/>
            <a:ext cx="9763233" cy="2042358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80977806-DD6B-04A5-6CDB-9C760F0BB270}"/>
              </a:ext>
            </a:extLst>
          </p:cNvPr>
          <p:cNvGrpSpPr/>
          <p:nvPr/>
        </p:nvGrpSpPr>
        <p:grpSpPr>
          <a:xfrm>
            <a:off x="3259851" y="2439420"/>
            <a:ext cx="5509218" cy="1436773"/>
            <a:chOff x="2225019" y="4791351"/>
            <a:chExt cx="5509218" cy="1436773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3EFF3A5-4BE6-07A8-C4D7-E29F5C49C9EF}"/>
                </a:ext>
              </a:extLst>
            </p:cNvPr>
            <p:cNvGrpSpPr/>
            <p:nvPr/>
          </p:nvGrpSpPr>
          <p:grpSpPr>
            <a:xfrm>
              <a:off x="2225019" y="4976017"/>
              <a:ext cx="2335028" cy="1067442"/>
              <a:chOff x="2093537" y="5065664"/>
              <a:chExt cx="2335028" cy="1067442"/>
            </a:xfrm>
          </p:grpSpPr>
          <p:sp>
            <p:nvSpPr>
              <p:cNvPr id="10" name="다이아몬드 9">
                <a:extLst>
                  <a:ext uri="{FF2B5EF4-FFF2-40B4-BE49-F238E27FC236}">
                    <a16:creationId xmlns:a16="http://schemas.microsoft.com/office/drawing/2014/main" id="{299A1319-27B9-97AF-51DD-4872594549F9}"/>
                  </a:ext>
                </a:extLst>
              </p:cNvPr>
              <p:cNvSpPr/>
              <p:nvPr/>
            </p:nvSpPr>
            <p:spPr>
              <a:xfrm>
                <a:off x="2093537" y="5065664"/>
                <a:ext cx="2335028" cy="1067442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57BC0C-EF04-A133-4647-4128047BE8BB}"/>
                  </a:ext>
                </a:extLst>
              </p:cNvPr>
              <p:cNvSpPr txBox="1"/>
              <p:nvPr/>
            </p:nvSpPr>
            <p:spPr>
              <a:xfrm>
                <a:off x="2378153" y="5445496"/>
                <a:ext cx="176579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/>
                  <a:t>sign(m) == sign(z)</a:t>
                </a:r>
                <a:endParaRPr lang="ko-KR" altLang="en-US" sz="1400" dirty="0"/>
              </a:p>
            </p:txBody>
          </p:sp>
        </p:grp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F81ED6D1-6D74-491C-4D02-6055636E3E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7765" y="4976017"/>
              <a:ext cx="2181412" cy="1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2A527712-68A3-67E3-8FC1-3E35374C42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7765" y="6043458"/>
              <a:ext cx="2181412" cy="1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A2B26F0F-B1B2-87B4-AD87-AAD77984A16A}"/>
                </a:ext>
              </a:extLst>
            </p:cNvPr>
            <p:cNvCxnSpPr/>
            <p:nvPr/>
          </p:nvCxnSpPr>
          <p:spPr>
            <a:xfrm flipH="1">
              <a:off x="3901134" y="4976017"/>
              <a:ext cx="556631" cy="2300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F0F98DE-3FF2-A0EC-2A3C-637CE41F5A0F}"/>
                </a:ext>
              </a:extLst>
            </p:cNvPr>
            <p:cNvCxnSpPr/>
            <p:nvPr/>
          </p:nvCxnSpPr>
          <p:spPr>
            <a:xfrm flipH="1" flipV="1">
              <a:off x="3901134" y="5817238"/>
              <a:ext cx="556631" cy="2262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BE4750-57C3-511A-A9F8-0CF7C71A9E48}"/>
                </a:ext>
              </a:extLst>
            </p:cNvPr>
            <p:cNvSpPr txBox="1"/>
            <p:nvPr/>
          </p:nvSpPr>
          <p:spPr>
            <a:xfrm>
              <a:off x="6639177" y="4791351"/>
              <a:ext cx="1095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Saturate</a:t>
              </a:r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CB7E7C-2692-ECB0-B6D7-8D047BB5793A}"/>
                </a:ext>
              </a:extLst>
            </p:cNvPr>
            <p:cNvSpPr txBox="1"/>
            <p:nvPr/>
          </p:nvSpPr>
          <p:spPr>
            <a:xfrm>
              <a:off x="6545990" y="5858792"/>
              <a:ext cx="1095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No-op</a:t>
              </a:r>
              <a:endParaRPr lang="ko-KR" altLang="en-US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898395D-44F8-547C-3F04-E380FB30EC9A}"/>
              </a:ext>
            </a:extLst>
          </p:cNvPr>
          <p:cNvSpPr txBox="1"/>
          <p:nvPr/>
        </p:nvSpPr>
        <p:spPr>
          <a:xfrm>
            <a:off x="4820743" y="2500977"/>
            <a:ext cx="481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NO</a:t>
            </a:r>
            <a:endParaRPr lang="ko-KR" alt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413271-8F64-1E41-2D95-FCFD0F1A79FA}"/>
              </a:ext>
            </a:extLst>
          </p:cNvPr>
          <p:cNvSpPr txBox="1"/>
          <p:nvPr/>
        </p:nvSpPr>
        <p:spPr>
          <a:xfrm>
            <a:off x="4820742" y="3541380"/>
            <a:ext cx="481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YES</a:t>
            </a:r>
            <a:endParaRPr lang="ko-KR" altLang="en-US" sz="1200" dirty="0"/>
          </a:p>
        </p:txBody>
      </p:sp>
      <p:pic>
        <p:nvPicPr>
          <p:cNvPr id="27" name="그림 26" descr="Symbol">
            <a:extLst>
              <a:ext uri="{FF2B5EF4-FFF2-40B4-BE49-F238E27FC236}">
                <a16:creationId xmlns:a16="http://schemas.microsoft.com/office/drawing/2014/main" id="{E024DC77-704B-3142-EDB1-2CBB35CE8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22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405F7EE-F4BB-E99C-71ED-741F1C6B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71" y="18255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Architecture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CA5FB63-2C47-D3D2-C347-748CF6496386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그림 138" descr="The image depicts a data processing flow involving SRAM, 1D-DCT, TPMEM1 and TPMEM2, and a 15-bit counter, with inputs and outputs specified as 16x16 and 12x12 matrices respectively.&#10;&#10;AI 생성 콘텐츠는 정확하지 않을 수 있습니다.">
            <a:extLst>
              <a:ext uri="{FF2B5EF4-FFF2-40B4-BE49-F238E27FC236}">
                <a16:creationId xmlns:a16="http://schemas.microsoft.com/office/drawing/2014/main" id="{D817E878-FF3B-CCD6-668A-9FF300E4D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942" y="1617259"/>
            <a:ext cx="9748115" cy="5102225"/>
          </a:xfrm>
          <a:prstGeom prst="rect">
            <a:avLst/>
          </a:prstGeom>
        </p:spPr>
      </p:pic>
      <p:pic>
        <p:nvPicPr>
          <p:cNvPr id="140" name="그림 139" descr="Symbol">
            <a:extLst>
              <a:ext uri="{FF2B5EF4-FFF2-40B4-BE49-F238E27FC236}">
                <a16:creationId xmlns:a16="http://schemas.microsoft.com/office/drawing/2014/main" id="{EFED83BD-8987-0969-B478-68A73463B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49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02A7C-C8B9-69FB-26B6-A70B47414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73BBB84-0D46-E23A-3BF4-2539BDB09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71" y="18255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Dataflow and Control Signals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7C29A21-4C47-9996-D4DC-5AF5418ED0B7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The provided text appears to be a series of numbers and labels that could be associated with a tabular data format, possibly from a spreadsheet or database, but without a visual image, I can't describe it.&#10;&#10;AI 생성 콘텐츠는 정확하지 않을 수 있습니다.">
            <a:extLst>
              <a:ext uri="{FF2B5EF4-FFF2-40B4-BE49-F238E27FC236}">
                <a16:creationId xmlns:a16="http://schemas.microsoft.com/office/drawing/2014/main" id="{E6CD02F0-A9A7-57A9-EDAC-BC43A5E11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85" y="1681149"/>
            <a:ext cx="10877630" cy="3495701"/>
          </a:xfrm>
          <a:prstGeom prst="rect">
            <a:avLst/>
          </a:prstGeom>
        </p:spPr>
      </p:pic>
      <p:pic>
        <p:nvPicPr>
          <p:cNvPr id="7" name="그림 6" descr="Symbol">
            <a:extLst>
              <a:ext uri="{FF2B5EF4-FFF2-40B4-BE49-F238E27FC236}">
                <a16:creationId xmlns:a16="http://schemas.microsoft.com/office/drawing/2014/main" id="{423342E6-76B2-F57B-8619-5C4B6D2AE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44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7E820C52-B6F4-3AF9-C8D7-EF8B5B894670}"/>
              </a:ext>
            </a:extLst>
          </p:cNvPr>
          <p:cNvGrpSpPr/>
          <p:nvPr/>
        </p:nvGrpSpPr>
        <p:grpSpPr>
          <a:xfrm>
            <a:off x="430775" y="1872688"/>
            <a:ext cx="11330450" cy="2920701"/>
            <a:chOff x="426672" y="1611831"/>
            <a:chExt cx="10300409" cy="265518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98B2224-4699-01EC-FD57-10D6C7B374E9}"/>
                </a:ext>
              </a:extLst>
            </p:cNvPr>
            <p:cNvGrpSpPr/>
            <p:nvPr/>
          </p:nvGrpSpPr>
          <p:grpSpPr>
            <a:xfrm>
              <a:off x="1009517" y="1619173"/>
              <a:ext cx="9717564" cy="2647841"/>
              <a:chOff x="264856" y="1597271"/>
              <a:chExt cx="9717564" cy="2647841"/>
            </a:xfrm>
          </p:grpSpPr>
          <p:pic>
            <p:nvPicPr>
              <p:cNvPr id="5" name="그림 4" descr="The text appears to be a sequence of numbers with some 'O's and zeros, but without an image to refer to, I can't provide a description.&#10;&#10;AI 생성 콘텐츠는 정확하지 않을 수 있습니다.">
                <a:extLst>
                  <a:ext uri="{FF2B5EF4-FFF2-40B4-BE49-F238E27FC236}">
                    <a16:creationId xmlns:a16="http://schemas.microsoft.com/office/drawing/2014/main" id="{FE251E4A-E20A-2852-DD82-6AADC28C1B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856" y="1597271"/>
                <a:ext cx="7585705" cy="2519028"/>
              </a:xfrm>
              <a:prstGeom prst="rect">
                <a:avLst/>
              </a:prstGeom>
            </p:spPr>
          </p:pic>
          <p:pic>
            <p:nvPicPr>
              <p:cNvPr id="9" name="그림 8" descr="The text appears to be a sequence of numbers, symbols, and letters, potentially representing a data table or code. However, without an image, I can't provide a description.&#10;&#10;AI 생성 콘텐츠는 정확하지 않을 수 있습니다.">
                <a:extLst>
                  <a:ext uri="{FF2B5EF4-FFF2-40B4-BE49-F238E27FC236}">
                    <a16:creationId xmlns:a16="http://schemas.microsoft.com/office/drawing/2014/main" id="{637DD8F7-76AA-B425-598B-C3C58F3724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08217" y="1597271"/>
                <a:ext cx="2974203" cy="2647841"/>
              </a:xfrm>
              <a:prstGeom prst="rect">
                <a:avLst/>
              </a:prstGeom>
            </p:spPr>
          </p:pic>
        </p:grpSp>
        <p:pic>
          <p:nvPicPr>
            <p:cNvPr id="11" name="그림 10" descr="The provided text appears to be a series of numbers and labels that could be associated with a tabular data format, possibly from a spreadsheet or database, but without a visual image, I can't describe it.&#10;&#10;AI 생성 콘텐츠는 정확하지 않을 수 있습니다.">
              <a:extLst>
                <a:ext uri="{FF2B5EF4-FFF2-40B4-BE49-F238E27FC236}">
                  <a16:creationId xmlns:a16="http://schemas.microsoft.com/office/drawing/2014/main" id="{F1080548-3403-FAA7-95CF-3DBB256D8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92881"/>
            <a:stretch>
              <a:fillRect/>
            </a:stretch>
          </p:blipFill>
          <p:spPr>
            <a:xfrm>
              <a:off x="426672" y="1611831"/>
              <a:ext cx="586517" cy="2647841"/>
            </a:xfrm>
            <a:prstGeom prst="rect">
              <a:avLst/>
            </a:prstGeom>
          </p:spPr>
        </p:pic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C81666D8-E023-CD4A-9411-F8C9ED993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71" y="18255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Dataflow and Control Signals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8880440-3F4A-9784-84FE-85D181368B94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Symbol">
            <a:extLst>
              <a:ext uri="{FF2B5EF4-FFF2-40B4-BE49-F238E27FC236}">
                <a16:creationId xmlns:a16="http://schemas.microsoft.com/office/drawing/2014/main" id="{9E4F05FC-9D50-AD29-EFE5-4AB064528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3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311F4-0262-AF20-1AC5-089676921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5083DF-20D7-3AD5-36AD-31545A92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71" y="18255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Waveform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153C555-0C89-15FE-73D5-184ADC27A16A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2963F20-A22F-3EC2-98DE-B91A46429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21" b="10721"/>
          <a:stretch>
            <a:fillRect/>
          </a:stretch>
        </p:blipFill>
        <p:spPr>
          <a:xfrm>
            <a:off x="1484142" y="4193191"/>
            <a:ext cx="9488658" cy="20151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AF71F27-B275-80D5-4D9F-4D75B3ED05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9"/>
          <a:stretch>
            <a:fillRect/>
          </a:stretch>
        </p:blipFill>
        <p:spPr>
          <a:xfrm>
            <a:off x="1484142" y="1760943"/>
            <a:ext cx="9488658" cy="2015123"/>
          </a:xfrm>
          <a:prstGeom prst="rect">
            <a:avLst/>
          </a:prstGeom>
        </p:spPr>
      </p:pic>
      <p:pic>
        <p:nvPicPr>
          <p:cNvPr id="9" name="그림 8" descr="Symbol">
            <a:extLst>
              <a:ext uri="{FF2B5EF4-FFF2-40B4-BE49-F238E27FC236}">
                <a16:creationId xmlns:a16="http://schemas.microsoft.com/office/drawing/2014/main" id="{CA0769B5-5117-51EB-985F-7445C49D7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48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FF8A-4D18-AAA9-939B-C3927051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7C8E5BE-A67A-BE15-C111-40C85275F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71" y="18255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Final PSNR Results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2CACD4B-42E9-71AE-82DB-A1FE6C3AD051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The image is a collection of before and after images, showcasing various restored versions of the original, with PSNR (Peak Signal-to-Noise Ratio) values indicating the quality of each restoration.&#10;&#10;AI 생성 콘텐츠는 정확하지 않을 수 있습니다.">
            <a:extLst>
              <a:ext uri="{FF2B5EF4-FFF2-40B4-BE49-F238E27FC236}">
                <a16:creationId xmlns:a16="http://schemas.microsoft.com/office/drawing/2014/main" id="{6CFD5CD7-47C6-C24D-B115-4885AB246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387" y="1378542"/>
            <a:ext cx="9271227" cy="5293629"/>
          </a:xfrm>
          <a:prstGeom prst="rect">
            <a:avLst/>
          </a:prstGeom>
        </p:spPr>
      </p:pic>
      <p:pic>
        <p:nvPicPr>
          <p:cNvPr id="8" name="그림 7" descr="Symbol">
            <a:extLst>
              <a:ext uri="{FF2B5EF4-FFF2-40B4-BE49-F238E27FC236}">
                <a16:creationId xmlns:a16="http://schemas.microsoft.com/office/drawing/2014/main" id="{DB4A76F9-D0A1-18A9-0EC8-BC8CAD881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18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E3676-8A6C-EF03-4E1D-762CDDA7C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6B99B4E-656C-5026-2721-B7935388C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71" y="18255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Synthesis Results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C9407191-630C-AEF0-E49D-6AAC7DD90862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The image displays a table with various cell sizes, including hierarchical, local, and global areas, with values for absolute, percentage, and combinations.&#10;&#10;AI 생성 콘텐츠는 정확하지 않을 수 있습니다.">
            <a:extLst>
              <a:ext uri="{FF2B5EF4-FFF2-40B4-BE49-F238E27FC236}">
                <a16:creationId xmlns:a16="http://schemas.microsoft.com/office/drawing/2014/main" id="{89B8A29F-B88D-33F1-6D3B-8150A8F4A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36"/>
          <a:stretch>
            <a:fillRect/>
          </a:stretch>
        </p:blipFill>
        <p:spPr>
          <a:xfrm>
            <a:off x="241685" y="1896952"/>
            <a:ext cx="4192716" cy="3703747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82026409-2042-C790-30A4-D459A0238893}"/>
              </a:ext>
            </a:extLst>
          </p:cNvPr>
          <p:cNvGrpSpPr/>
          <p:nvPr/>
        </p:nvGrpSpPr>
        <p:grpSpPr>
          <a:xfrm>
            <a:off x="4650399" y="1896952"/>
            <a:ext cx="4192839" cy="4143850"/>
            <a:chOff x="5417065" y="1575825"/>
            <a:chExt cx="4970106" cy="4912035"/>
          </a:xfrm>
        </p:grpSpPr>
        <p:pic>
          <p:nvPicPr>
            <p:cNvPr id="7" name="그림 6" descr="This image displays a list of numerical values, each separated by a line break, likely representing a series of data points or measurements. The numbers appear to be related to DCT (Discrete Cosine Transform) computations, with various indices and decimal places.&#10;&#10;AI 생성 콘텐츠는 정확하지 않을 수 있습니다.">
              <a:extLst>
                <a:ext uri="{FF2B5EF4-FFF2-40B4-BE49-F238E27FC236}">
                  <a16:creationId xmlns:a16="http://schemas.microsoft.com/office/drawing/2014/main" id="{132B9737-F221-DAB2-B5AB-8502F244F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0" r="17218"/>
            <a:stretch>
              <a:fillRect/>
            </a:stretch>
          </p:blipFill>
          <p:spPr>
            <a:xfrm>
              <a:off x="5417066" y="1575825"/>
              <a:ext cx="4970105" cy="4249209"/>
            </a:xfrm>
            <a:prstGeom prst="rect">
              <a:avLst/>
            </a:prstGeom>
          </p:spPr>
        </p:pic>
        <p:pic>
          <p:nvPicPr>
            <p:cNvPr id="9" name="그림 8" descr="The image displays a list of data points, each consisting of a number followed by two decimal values, and is separated into different sections, possibly representing various memory addresses and their corresponding values.&#10;&#10;AI 생성 콘텐츠는 정확하지 않을 수 있습니다.">
              <a:extLst>
                <a:ext uri="{FF2B5EF4-FFF2-40B4-BE49-F238E27FC236}">
                  <a16:creationId xmlns:a16="http://schemas.microsoft.com/office/drawing/2014/main" id="{7AF9B0EF-9BA9-071E-FB7E-EC07A7E3E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043"/>
            <a:stretch>
              <a:fillRect/>
            </a:stretch>
          </p:blipFill>
          <p:spPr>
            <a:xfrm>
              <a:off x="5417065" y="5825034"/>
              <a:ext cx="4970105" cy="66282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51CA94AB-8854-D164-4EFB-316BF376EC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0821748"/>
                  </p:ext>
                </p:extLst>
              </p:nvPr>
            </p:nvGraphicFramePr>
            <p:xfrm>
              <a:off x="9059237" y="2565858"/>
              <a:ext cx="2826327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6018">
                      <a:extLst>
                        <a:ext uri="{9D8B030D-6E8A-4147-A177-3AD203B41FA5}">
                          <a16:colId xmlns:a16="http://schemas.microsoft.com/office/drawing/2014/main" val="3859222936"/>
                        </a:ext>
                      </a:extLst>
                    </a:gridCol>
                    <a:gridCol w="1780309">
                      <a:extLst>
                        <a:ext uri="{9D8B030D-6E8A-4147-A177-3AD203B41FA5}">
                          <a16:colId xmlns:a16="http://schemas.microsoft.com/office/drawing/2014/main" val="19947366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Module</a:t>
                          </a:r>
                          <a:endParaRPr lang="ko-KR" altLang="en-US" sz="1600" b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Area</a:t>
                          </a:r>
                          <a:endParaRPr lang="ko-KR" altLang="en-US" sz="1600" b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6117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CONTROL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6,569.17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6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p>
                                <m:sSupPr>
                                  <m:ctrlP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ko-KR" altLang="en-US" sz="1600" b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0763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DCT_1D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336,302.41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6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p>
                                <m:sSupPr>
                                  <m:ctrlP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ko-KR" altLang="en-US" sz="1600" b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27263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DCT_2D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398,334.06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6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p>
                                <m:sSupPr>
                                  <m:ctrlP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ko-KR" altLang="en-US" sz="1600" b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9156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TPMEM1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885,424.94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6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p>
                                <m:sSupPr>
                                  <m:ctrlP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ko-KR" altLang="en-US" sz="1600" b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410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TPMEM2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673,081.56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6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p>
                                <m:sSupPr>
                                  <m:ctrlP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ko-KR" sz="1600" b="0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ko-KR" altLang="en-US" sz="1600" b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03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Total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2,357,478.5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600" b="1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sSup>
                                <m:sSupPr>
                                  <m:ctrlPr>
                                    <a:rPr lang="en-US" altLang="ko-KR" sz="1600" b="1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1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p>
                                  <m:r>
                                    <a:rPr lang="en-US" altLang="ko-KR" sz="1600" b="1" i="1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600" b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92721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51CA94AB-8854-D164-4EFB-316BF376EC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0821748"/>
                  </p:ext>
                </p:extLst>
              </p:nvPr>
            </p:nvGraphicFramePr>
            <p:xfrm>
              <a:off x="9059237" y="2565858"/>
              <a:ext cx="2826327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6018">
                      <a:extLst>
                        <a:ext uri="{9D8B030D-6E8A-4147-A177-3AD203B41FA5}">
                          <a16:colId xmlns:a16="http://schemas.microsoft.com/office/drawing/2014/main" val="3859222936"/>
                        </a:ext>
                      </a:extLst>
                    </a:gridCol>
                    <a:gridCol w="1780309">
                      <a:extLst>
                        <a:ext uri="{9D8B030D-6E8A-4147-A177-3AD203B41FA5}">
                          <a16:colId xmlns:a16="http://schemas.microsoft.com/office/drawing/2014/main" val="19947366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Module</a:t>
                          </a:r>
                          <a:endParaRPr lang="ko-KR" altLang="en-US" sz="1600" b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Area</a:t>
                          </a:r>
                          <a:endParaRPr lang="ko-KR" altLang="en-US" sz="1600" b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6117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CONTROL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9247" t="-103279" r="-685" b="-5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0763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DCT_1D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9247" t="-203279" r="-685" b="-4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27263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DCT_2D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9247" t="-303279" r="-685" b="-3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49156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TPMEM1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9247" t="-403279" r="-685" b="-2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410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TPMEM2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9247" t="-503279" r="-685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03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나눔고딕" panose="020D0604000000000000" pitchFamily="50" charset="-127"/>
                              <a:ea typeface="나눔고딕" panose="020D0604000000000000" pitchFamily="50" charset="-127"/>
                            </a:rPr>
                            <a:t>Total</a:t>
                          </a:r>
                          <a:endParaRPr lang="ko-KR" altLang="en-US" sz="14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나눔고딕" panose="020D0604000000000000" pitchFamily="50" charset="-127"/>
                            <a:ea typeface="나눔고딕" panose="020D0604000000000000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9247" t="-603279" r="-685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927215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그림 12" descr="Symbol">
            <a:extLst>
              <a:ext uri="{FF2B5EF4-FFF2-40B4-BE49-F238E27FC236}">
                <a16:creationId xmlns:a16="http://schemas.microsoft.com/office/drawing/2014/main" id="{CB6CED22-3A9C-E819-7031-FD6D06E2B4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7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11B18-4D21-C3C1-54F9-58EE8822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D331318-BAFE-E841-8782-3FE18FDF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71" y="18255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Synthesis Results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F5A1910-CC5C-6946-2B38-9DB5CEF7AFC8}"/>
              </a:ext>
            </a:extLst>
          </p:cNvPr>
          <p:cNvCxnSpPr>
            <a:cxnSpLocks/>
          </p:cNvCxnSpPr>
          <p:nvPr/>
        </p:nvCxnSpPr>
        <p:spPr>
          <a:xfrm>
            <a:off x="158234" y="1179263"/>
            <a:ext cx="11875532" cy="0"/>
          </a:xfrm>
          <a:prstGeom prst="line">
            <a:avLst/>
          </a:prstGeom>
          <a:ln w="57150"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The image shows a digital circuit diagram, featuring various components such as flip-flops, registers, and adders, with clock signals and data flowing through them.&#10;&#10;AI 생성 콘텐츠는 정확하지 않을 수 있습니다.">
            <a:extLst>
              <a:ext uri="{FF2B5EF4-FFF2-40B4-BE49-F238E27FC236}">
                <a16:creationId xmlns:a16="http://schemas.microsoft.com/office/drawing/2014/main" id="{D20D51F3-655C-CD49-FFA9-FED3FB0E5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82" y="1604218"/>
            <a:ext cx="3222473" cy="31068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E20254-364F-0C19-1420-5C55B687C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433" y="1604218"/>
            <a:ext cx="2950101" cy="31070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2D53DFB-4D4F-EEFB-3871-C32CBEC4CD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447" y="1603994"/>
            <a:ext cx="3123568" cy="31070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8A173B-B080-045E-EC3D-8C91DE77815E}"/>
              </a:ext>
            </a:extLst>
          </p:cNvPr>
          <p:cNvSpPr txBox="1"/>
          <p:nvPr/>
        </p:nvSpPr>
        <p:spPr>
          <a:xfrm>
            <a:off x="1541198" y="5324100"/>
            <a:ext cx="4759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Timing: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Met</a:t>
            </a:r>
          </a:p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Critical Path: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TPMEM -&gt; 2</a:t>
            </a:r>
            <a:r>
              <a:rPr lang="en-US" altLang="ko-KR" b="1" baseline="30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nd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DCT -&gt; TPMEM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6A87C7-218D-DCBF-A30D-0D065CD2A687}"/>
              </a:ext>
            </a:extLst>
          </p:cNvPr>
          <p:cNvSpPr txBox="1"/>
          <p:nvPr/>
        </p:nvSpPr>
        <p:spPr>
          <a:xfrm>
            <a:off x="8628602" y="5462599"/>
            <a:ext cx="254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Power: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77.1847mW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 descr="Symbol">
            <a:extLst>
              <a:ext uri="{FF2B5EF4-FFF2-40B4-BE49-F238E27FC236}">
                <a16:creationId xmlns:a16="http://schemas.microsoft.com/office/drawing/2014/main" id="{31B992C0-7823-3FA4-83D3-9C77329AF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34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200EB-62B6-1556-2EBB-EE9C405A9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34CE36-F2FB-BAD8-8F6D-47670141F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3024222"/>
            <a:ext cx="10058400" cy="809557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latin typeface="나눔고딕" panose="020D0604000000000000" pitchFamily="50" charset="-127"/>
                <a:ea typeface="나눔고딕" panose="020D0604000000000000" pitchFamily="50" charset="-127"/>
                <a:cs typeface="Cascadia Code SemiLight" panose="020B0609020000020004" pitchFamily="49" charset="0"/>
              </a:rPr>
              <a:t>Thank</a:t>
            </a:r>
            <a:r>
              <a:rPr lang="ko-KR" altLang="en-US" sz="4800" b="1" dirty="0">
                <a:latin typeface="나눔고딕" panose="020D0604000000000000" pitchFamily="50" charset="-127"/>
                <a:ea typeface="나눔고딕" panose="020D0604000000000000" pitchFamily="50" charset="-127"/>
                <a:cs typeface="Cascadia Code SemiLight" panose="020B0609020000020004" pitchFamily="49" charset="0"/>
              </a:rPr>
              <a:t> </a:t>
            </a:r>
            <a:r>
              <a:rPr lang="en-US" altLang="ko-KR" sz="4800" b="1" dirty="0">
                <a:latin typeface="나눔고딕" panose="020D0604000000000000" pitchFamily="50" charset="-127"/>
                <a:ea typeface="나눔고딕" panose="020D0604000000000000" pitchFamily="50" charset="-127"/>
                <a:cs typeface="Cascadia Code SemiLight" panose="020B0609020000020004" pitchFamily="49" charset="0"/>
              </a:rPr>
              <a:t>You!</a:t>
            </a:r>
            <a:endParaRPr lang="ko-KR" altLang="en-US" sz="4800" dirty="0">
              <a:latin typeface="나눔고딕" panose="020D0604000000000000" pitchFamily="50" charset="-127"/>
              <a:ea typeface="나눔고딕" panose="020D0604000000000000" pitchFamily="50" charset="-127"/>
              <a:cs typeface="Cascadia Code SemiLight" panose="020B0609020000020004" pitchFamily="49" charset="0"/>
            </a:endParaRPr>
          </a:p>
        </p:txBody>
      </p:sp>
      <p:pic>
        <p:nvPicPr>
          <p:cNvPr id="21" name="그림 20" descr="Symbol">
            <a:extLst>
              <a:ext uri="{FF2B5EF4-FFF2-40B4-BE49-F238E27FC236}">
                <a16:creationId xmlns:a16="http://schemas.microsoft.com/office/drawing/2014/main" id="{CBED93F8-F667-6538-61B5-B6AAD0995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6" y="6427977"/>
            <a:ext cx="1082751" cy="3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14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7717</TotalTime>
  <Words>861</Words>
  <Application>Microsoft Office PowerPoint</Application>
  <PresentationFormat>와이드스크린</PresentationFormat>
  <Paragraphs>283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나눔고딕</vt:lpstr>
      <vt:lpstr>맑은 고딕</vt:lpstr>
      <vt:lpstr>Arial</vt:lpstr>
      <vt:lpstr>Cambria Math</vt:lpstr>
      <vt:lpstr>Office 테마</vt:lpstr>
      <vt:lpstr>AREA-EFFICIENT 2D-DCT ARCHITECTURE</vt:lpstr>
      <vt:lpstr>Optimization Strategies</vt:lpstr>
      <vt:lpstr>Efficient TPMEM Scheduling</vt:lpstr>
      <vt:lpstr>Efficient TPMEM Scheduling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Glitch Handling</vt:lpstr>
      <vt:lpstr>Architecture</vt:lpstr>
      <vt:lpstr>Dataflow and Control Signals</vt:lpstr>
      <vt:lpstr>Dataflow and Control Signals</vt:lpstr>
      <vt:lpstr>Waveform</vt:lpstr>
      <vt:lpstr>Final PSNR Results</vt:lpstr>
      <vt:lpstr>Synthesis Results</vt:lpstr>
      <vt:lpstr>Synthesis Results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민찬 권</dc:creator>
  <cp:lastModifiedBy>민찬 권</cp:lastModifiedBy>
  <cp:revision>23</cp:revision>
  <dcterms:created xsi:type="dcterms:W3CDTF">2026-05-28T13:26:41Z</dcterms:created>
  <dcterms:modified xsi:type="dcterms:W3CDTF">2026-06-12T06:11:00Z</dcterms:modified>
</cp:coreProperties>
</file>